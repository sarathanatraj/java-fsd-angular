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41"/>
  </p:notesMasterIdLst>
  <p:handoutMasterIdLst>
    <p:handoutMasterId r:id="rId42"/>
  </p:handoutMasterIdLst>
  <p:sldIdLst>
    <p:sldId id="311" r:id="rId3"/>
    <p:sldId id="340" r:id="rId4"/>
    <p:sldId id="324" r:id="rId5"/>
    <p:sldId id="325" r:id="rId6"/>
    <p:sldId id="365" r:id="rId7"/>
    <p:sldId id="366" r:id="rId8"/>
    <p:sldId id="329" r:id="rId9"/>
    <p:sldId id="367" r:id="rId10"/>
    <p:sldId id="368" r:id="rId11"/>
    <p:sldId id="369" r:id="rId12"/>
    <p:sldId id="370" r:id="rId13"/>
    <p:sldId id="371" r:id="rId14"/>
    <p:sldId id="372" r:id="rId15"/>
    <p:sldId id="373" r:id="rId16"/>
    <p:sldId id="374" r:id="rId17"/>
    <p:sldId id="375" r:id="rId18"/>
    <p:sldId id="326" r:id="rId19"/>
    <p:sldId id="376" r:id="rId20"/>
    <p:sldId id="377" r:id="rId21"/>
    <p:sldId id="378" r:id="rId22"/>
    <p:sldId id="379" r:id="rId23"/>
    <p:sldId id="380" r:id="rId24"/>
    <p:sldId id="381" r:id="rId25"/>
    <p:sldId id="382" r:id="rId26"/>
    <p:sldId id="383" r:id="rId27"/>
    <p:sldId id="384" r:id="rId28"/>
    <p:sldId id="385" r:id="rId29"/>
    <p:sldId id="386" r:id="rId30"/>
    <p:sldId id="387" r:id="rId31"/>
    <p:sldId id="388" r:id="rId32"/>
    <p:sldId id="389" r:id="rId33"/>
    <p:sldId id="390" r:id="rId34"/>
    <p:sldId id="391" r:id="rId35"/>
    <p:sldId id="392" r:id="rId36"/>
    <p:sldId id="393" r:id="rId37"/>
    <p:sldId id="394" r:id="rId38"/>
    <p:sldId id="395" r:id="rId39"/>
    <p:sldId id="276" r:id="rId40"/>
  </p:sldIdLst>
  <p:sldSz cx="9144000" cy="6858000" type="screen4x3"/>
  <p:notesSz cx="6858000" cy="914400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b="0" i="0" u="none" kern="1200" baseline="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333399"/>
    <a:srgbClr val="FFDA8F"/>
    <a:srgbClr val="FFCC66"/>
    <a:srgbClr val="FF6600"/>
    <a:srgbClr val="5F5F5F"/>
    <a:srgbClr val="808080"/>
    <a:srgbClr val="CC3300"/>
    <a:srgbClr val="6D7BA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68"/>
    <p:restoredTop sz="78507"/>
  </p:normalViewPr>
  <p:slideViewPr>
    <p:cSldViewPr showGuides="1">
      <p:cViewPr varScale="1">
        <p:scale>
          <a:sx n="74" d="100"/>
          <a:sy n="74" d="100"/>
        </p:scale>
        <p:origin x="1260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 showFormatting="0"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5" Type="http://schemas.openxmlformats.org/officeDocument/2006/relationships/tableStyles" Target="tableStyles.xml"/><Relationship Id="rId44" Type="http://schemas.openxmlformats.org/officeDocument/2006/relationships/viewProps" Target="viewProps.xml"/><Relationship Id="rId43" Type="http://schemas.openxmlformats.org/officeDocument/2006/relationships/presProps" Target="presProps.xml"/><Relationship Id="rId42" Type="http://schemas.openxmlformats.org/officeDocument/2006/relationships/handoutMaster" Target="handoutMasters/handoutMaster1.xml"/><Relationship Id="rId41" Type="http://schemas.openxmlformats.org/officeDocument/2006/relationships/notesMaster" Target="notesMasters/notesMaster1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6C064A-D61B-4B21-B757-51A9B82445B8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305E07-67EA-4042-A3F6-853A8AD8D20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86AFAF3D-E4BF-45FE-869E-635DD142B3AC}" type="datetimeFigureOut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+mn-cs"/>
              </a:rPr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67FE84E-F097-428B-9201-A3ED74D83962}" type="slidenum">
              <a:rPr kumimoji="0" lang="en-US" altLang="tr-TR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altLang="tr-TR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0">
          <a:gsLst>
            <a:gs pos="0">
              <a:schemeClr val="folHlink"/>
            </a:gs>
            <a:gs pos="100000">
              <a:srgbClr val="FFFFF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32" descr="04_back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938" y="942975"/>
            <a:ext cx="8367712" cy="5153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Text Box 14"/>
          <p:cNvSpPr txBox="1">
            <a:spLocks noChangeArrowheads="1"/>
          </p:cNvSpPr>
          <p:nvPr/>
        </p:nvSpPr>
        <p:spPr bwMode="gray">
          <a:xfrm>
            <a:off x="3962400" y="6248400"/>
            <a:ext cx="12319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tx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r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2400" b="1" i="0" u="none" strike="noStrike" kern="1200" cap="none" spc="0" normalizeH="0" baseline="0" noProof="0" smtClean="0">
                <a:ln>
                  <a:noFill/>
                </a:ln>
                <a:solidFill>
                  <a:schemeClr val="folHlink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Arial" panose="020B0604020202020204" pitchFamily="34" charset="0"/>
              </a:rPr>
              <a:t>LOGO</a:t>
            </a:r>
            <a:endParaRPr kumimoji="0" lang="en-US" sz="2400" b="1" i="0" u="none" strike="noStrike" kern="1200" cap="none" spc="0" normalizeH="0" baseline="0" noProof="0" smtClean="0">
              <a:ln>
                <a:noFill/>
              </a:ln>
              <a:solidFill>
                <a:schemeClr val="folHlink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ectangle 24"/>
          <p:cNvSpPr>
            <a:spLocks noChangeArrowheads="1"/>
          </p:cNvSpPr>
          <p:nvPr/>
        </p:nvSpPr>
        <p:spPr bwMode="auto">
          <a:xfrm>
            <a:off x="373063" y="942975"/>
            <a:ext cx="8405813" cy="5133975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tr-TR" altLang="tr-TR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2053" name="Line 29"/>
          <p:cNvSpPr/>
          <p:nvPr/>
        </p:nvSpPr>
        <p:spPr>
          <a:xfrm>
            <a:off x="381000" y="3000375"/>
            <a:ext cx="48768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</p:sp>
      <p:pic>
        <p:nvPicPr>
          <p:cNvPr id="2054" name="Picture 34" descr="04_icon_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0388" y="2238375"/>
            <a:ext cx="1420812" cy="142081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" y="3076575"/>
            <a:ext cx="4038600" cy="4572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1600">
                <a:solidFill>
                  <a:srgbClr val="000000"/>
                </a:solidFill>
              </a:defRPr>
            </a:lvl1pPr>
          </a:lstStyle>
          <a:p>
            <a:pPr lvl="0"/>
            <a:r>
              <a:rPr lang="en-US" noProof="0" smtClean="0"/>
              <a:t>Click to edit Master subtitle style</a:t>
            </a:r>
            <a:endParaRPr lang="en-US" noProof="0" smtClean="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 bwMode="gray">
          <a:xfrm>
            <a:off x="533400" y="2390775"/>
            <a:ext cx="4648200" cy="533400"/>
          </a:xfrm>
        </p:spPr>
        <p:txBody>
          <a:bodyPr/>
          <a:lstStyle>
            <a:lvl1pPr algn="l"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 smtClean="0"/>
          </a:p>
        </p:txBody>
      </p:sp>
      <p:sp>
        <p:nvSpPr>
          <p:cNvPr id="16" name="Rectangle 4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381000" y="6537325"/>
            <a:ext cx="2133600" cy="2444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>
              <a:defRPr b="0">
                <a:solidFill>
                  <a:srgbClr val="000000"/>
                </a:solidFill>
                <a:latin typeface="Arial" panose="020B060402020202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7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3124200" y="6537325"/>
            <a:ext cx="2895600" cy="2444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000" b="0" i="0">
                <a:solidFill>
                  <a:srgbClr val="000000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8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6629400" y="6553200"/>
            <a:ext cx="2133600" cy="244475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>
                <a:latin typeface="Arial" panose="020B0604020202020204" pitchFamily="34" charset="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6CB5515-70E4-4E70-BBC9-8BA21ABC3E5E}" type="slidenum">
              <a:rPr kumimoji="0" lang="en-US" altLang="tr-TR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</a:fld>
            <a:endParaRPr kumimoji="0" lang="en-US" altLang="tr-TR" sz="10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1" u="none" strike="noStrike" kern="1200" cap="none" spc="0" normalizeH="0" baseline="0" noProof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955E68-DA26-43D8-B4BD-A2A5B28C01A8}" type="slidenum">
              <a:rPr kumimoji="0" lang="en-US" altLang="tr-TR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Arial" panose="020B0604020202020204" pitchFamily="34" charset="0"/>
              </a:rPr>
            </a:fld>
            <a:endParaRPr kumimoji="0" lang="en-US" altLang="tr-TR" sz="10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1" u="none" strike="noStrike" kern="1200" cap="none" spc="0" normalizeH="0" baseline="0" noProof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955E68-DA26-43D8-B4BD-A2A5B28C01A8}" type="slidenum">
              <a:rPr kumimoji="0" lang="en-US" altLang="tr-TR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Arial" panose="020B0604020202020204" pitchFamily="34" charset="0"/>
              </a:rPr>
            </a:fld>
            <a:endParaRPr kumimoji="0" lang="en-US" altLang="tr-TR" sz="10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95400"/>
            <a:ext cx="4038600" cy="4933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95400"/>
            <a:ext cx="4038600" cy="49339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1" u="none" strike="noStrike" kern="1200" cap="none" spc="0" normalizeH="0" baseline="0" noProof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955E68-DA26-43D8-B4BD-A2A5B28C01A8}" type="slidenum">
              <a:rPr kumimoji="0" lang="en-US" altLang="tr-TR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Arial" panose="020B0604020202020204" pitchFamily="34" charset="0"/>
              </a:rPr>
            </a:fld>
            <a:endParaRPr kumimoji="0" lang="en-US" altLang="tr-TR" sz="10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1" u="none" strike="noStrike" kern="1200" cap="none" spc="0" normalizeH="0" baseline="0" noProof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955E68-DA26-43D8-B4BD-A2A5B28C01A8}" type="slidenum">
              <a:rPr kumimoji="0" lang="en-US" altLang="tr-TR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Arial" panose="020B0604020202020204" pitchFamily="34" charset="0"/>
              </a:rPr>
            </a:fld>
            <a:endParaRPr kumimoji="0" lang="en-US" altLang="tr-TR" sz="10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1" u="none" strike="noStrike" kern="1200" cap="none" spc="0" normalizeH="0" baseline="0" noProof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955E68-DA26-43D8-B4BD-A2A5B28C01A8}" type="slidenum">
              <a:rPr kumimoji="0" lang="en-US" altLang="tr-TR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Arial" panose="020B0604020202020204" pitchFamily="34" charset="0"/>
              </a:rPr>
            </a:fld>
            <a:endParaRPr kumimoji="0" lang="en-US" altLang="tr-TR" sz="10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1" u="none" strike="noStrike" kern="1200" cap="none" spc="0" normalizeH="0" baseline="0" noProof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955E68-DA26-43D8-B4BD-A2A5B28C01A8}" type="slidenum">
              <a:rPr kumimoji="0" lang="en-US" altLang="tr-TR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Arial" panose="020B0604020202020204" pitchFamily="34" charset="0"/>
              </a:rPr>
            </a:fld>
            <a:endParaRPr kumimoji="0" lang="en-US" altLang="tr-TR" sz="10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1" u="none" strike="noStrike" kern="1200" cap="none" spc="0" normalizeH="0" baseline="0" noProof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955E68-DA26-43D8-B4BD-A2A5B28C01A8}" type="slidenum">
              <a:rPr kumimoji="0" lang="en-US" altLang="tr-TR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Arial" panose="020B0604020202020204" pitchFamily="34" charset="0"/>
              </a:rPr>
            </a:fld>
            <a:endParaRPr kumimoji="0" lang="en-US" altLang="tr-TR" sz="10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3200" b="1" i="0" u="none" strike="noStrike" kern="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picture</a:t>
            </a:r>
            <a:endParaRPr kumimoji="0" lang="en-US" sz="32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1" u="none" strike="noStrike" kern="1200" cap="none" spc="0" normalizeH="0" baseline="0" noProof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955E68-DA26-43D8-B4BD-A2A5B28C01A8}" type="slidenum">
              <a:rPr kumimoji="0" lang="en-US" altLang="tr-TR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Arial" panose="020B0604020202020204" pitchFamily="34" charset="0"/>
              </a:rPr>
            </a:fld>
            <a:endParaRPr kumimoji="0" lang="en-US" altLang="tr-TR" sz="10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1" u="none" strike="noStrike" kern="1200" cap="none" spc="0" normalizeH="0" baseline="0" noProof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955E68-DA26-43D8-B4BD-A2A5B28C01A8}" type="slidenum">
              <a:rPr kumimoji="0" lang="en-US" altLang="tr-TR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Arial" panose="020B0604020202020204" pitchFamily="34" charset="0"/>
              </a:rPr>
            </a:fld>
            <a:endParaRPr kumimoji="0" lang="en-US" altLang="tr-TR" sz="10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43700" y="206375"/>
            <a:ext cx="2171700" cy="602297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8600" y="206375"/>
            <a:ext cx="6362700" cy="602297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1" u="none" strike="noStrike" kern="1200" cap="none" spc="0" normalizeH="0" baseline="0" noProof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955E68-DA26-43D8-B4BD-A2A5B28C01A8}" type="slidenum">
              <a:rPr kumimoji="0" lang="en-US" altLang="tr-TR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Arial" panose="020B0604020202020204" pitchFamily="34" charset="0"/>
              </a:rPr>
            </a:fld>
            <a:endParaRPr kumimoji="0" lang="en-US" altLang="tr-TR" sz="10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206375"/>
            <a:ext cx="8686800" cy="563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 hasCustomPrompt="1"/>
          </p:nvPr>
        </p:nvSpPr>
        <p:spPr>
          <a:xfrm>
            <a:off x="457200" y="1295400"/>
            <a:ext cx="8229600" cy="49339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2800" b="1" i="0" u="none" strike="noStrike" kern="0" cap="none" spc="0" normalizeH="0" baseline="0" noProof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Click icon to add table</a:t>
            </a:r>
            <a:endParaRPr kumimoji="0" lang="en-US" sz="2800" b="1" i="0" u="none" strike="noStrike" kern="0" cap="none" spc="0" normalizeH="0" baseline="0" noProof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1" u="none" strike="noStrike" kern="1200" cap="none" spc="0" normalizeH="0" baseline="0" noProof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955E68-DA26-43D8-B4BD-A2A5B28C01A8}" type="slidenum">
              <a:rPr kumimoji="0" lang="en-US" altLang="tr-TR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Arial" panose="020B0604020202020204" pitchFamily="34" charset="0"/>
              </a:rPr>
            </a:fld>
            <a:endParaRPr kumimoji="0" lang="en-US" altLang="tr-TR" sz="10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2.png"/><Relationship Id="rId13" Type="http://schemas.openxmlformats.org/officeDocument/2006/relationships/image" Target="../media/image3.png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chemeClr val="folHlink"/>
            </a:gs>
            <a:gs pos="100000">
              <a:srgbClr val="FFFFFF"/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53"/>
          <p:cNvSpPr>
            <a:spLocks noChangeArrowheads="1"/>
          </p:cNvSpPr>
          <p:nvPr/>
        </p:nvSpPr>
        <p:spPr bwMode="auto">
          <a:xfrm>
            <a:off x="228600" y="762000"/>
            <a:ext cx="8686800" cy="5848350"/>
          </a:xfrm>
          <a:prstGeom prst="rect">
            <a:avLst/>
          </a:prstGeom>
          <a:solidFill>
            <a:schemeClr val="bg1"/>
          </a:solidFill>
          <a:ln w="38100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tr-TR" altLang="tr-TR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027" name="Picture 60" descr="04_back_b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857750" y="762000"/>
            <a:ext cx="4057650" cy="5834063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8" name="Rectangle 55"/>
          <p:cNvSpPr>
            <a:spLocks noChangeArrowheads="1"/>
          </p:cNvSpPr>
          <p:nvPr/>
        </p:nvSpPr>
        <p:spPr bwMode="white">
          <a:xfrm>
            <a:off x="5715000" y="6591300"/>
            <a:ext cx="3009900" cy="1143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tr-TR" altLang="tr-TR" sz="18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29" name="Rectangle 3"/>
          <p:cNvSpPr>
            <a:spLocks noGrp="1"/>
          </p:cNvSpPr>
          <p:nvPr>
            <p:ph type="body" idx="1"/>
          </p:nvPr>
        </p:nvSpPr>
        <p:spPr>
          <a:xfrm>
            <a:off x="457200" y="1295400"/>
            <a:ext cx="8229600" cy="493395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tr-TR" dirty="0"/>
              <a:t>Click to edit Master text styles</a:t>
            </a:r>
            <a:endParaRPr lang="en-US" altLang="tr-TR" dirty="0"/>
          </a:p>
          <a:p>
            <a:pPr lvl="1"/>
            <a:r>
              <a:rPr lang="en-US" altLang="tr-TR" dirty="0"/>
              <a:t>Second level</a:t>
            </a:r>
            <a:endParaRPr lang="en-US" altLang="tr-TR" dirty="0"/>
          </a:p>
          <a:p>
            <a:pPr lvl="2"/>
            <a:r>
              <a:rPr lang="en-US" altLang="tr-TR" dirty="0"/>
              <a:t>Third level</a:t>
            </a:r>
            <a:endParaRPr lang="en-US" altLang="tr-TR" dirty="0"/>
          </a:p>
          <a:p>
            <a:pPr lvl="3"/>
            <a:r>
              <a:rPr lang="en-US" altLang="tr-TR" dirty="0"/>
              <a:t>Fourth level</a:t>
            </a:r>
            <a:endParaRPr lang="en-US" altLang="tr-TR" dirty="0"/>
          </a:p>
          <a:p>
            <a:pPr lvl="4"/>
            <a:r>
              <a:rPr lang="en-US" altLang="tr-TR" dirty="0"/>
              <a:t>Fifth level</a:t>
            </a:r>
            <a:endParaRPr lang="en-US" altLang="tr-TR" dirty="0"/>
          </a:p>
        </p:txBody>
      </p:sp>
      <p:sp>
        <p:nvSpPr>
          <p:cNvPr id="2" name="Rectangle 4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5638800" y="6457950"/>
            <a:ext cx="2133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1">
                <a:solidFill>
                  <a:srgbClr val="5F5F5F"/>
                </a:solidFill>
                <a:latin typeface="+mn-lt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1" i="0" u="none" strike="noStrike" kern="1200" cap="none" spc="0" normalizeH="0" baseline="0" noProof="0">
              <a:ln>
                <a:noFill/>
              </a:ln>
              <a:solidFill>
                <a:srgbClr val="5F5F5F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5791200" y="6353175"/>
            <a:ext cx="2895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2000" b="1" i="1">
                <a:solidFill>
                  <a:srgbClr val="CC3300"/>
                </a:solidFill>
                <a:latin typeface="Arial" panose="020B0604020202020204" pitchFamily="34" charset="0"/>
                <a:cs typeface="+mn-cs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2000" b="1" i="1" u="none" strike="noStrike" kern="1200" cap="none" spc="0" normalizeH="0" baseline="0" noProof="0">
              <a:ln>
                <a:noFill/>
              </a:ln>
              <a:solidFill>
                <a:srgbClr val="CC33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381000" y="6305550"/>
            <a:ext cx="21336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000">
                <a:solidFill>
                  <a:srgbClr val="000000"/>
                </a:solidFill>
                <a:latin typeface="Verdana" panose="020B0604030504040204" pitchFamily="34" charset="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4F955E68-DA26-43D8-B4BD-A2A5B28C01A8}" type="slidenum">
              <a:rPr kumimoji="0" lang="en-US" altLang="tr-TR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Arial" panose="020B0604020202020204" pitchFamily="34" charset="0"/>
              </a:rPr>
            </a:fld>
            <a:endParaRPr kumimoji="0" lang="en-US" altLang="tr-TR" sz="1000" b="0" i="0" u="none" strike="noStrike" kern="1200" cap="none" spc="0" normalizeH="0" baseline="0" noProof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033" name="Rectangle 2"/>
          <p:cNvSpPr>
            <a:spLocks noGrp="1"/>
          </p:cNvSpPr>
          <p:nvPr>
            <p:ph type="title"/>
          </p:nvPr>
        </p:nvSpPr>
        <p:spPr>
          <a:xfrm>
            <a:off x="228600" y="206375"/>
            <a:ext cx="8686800" cy="56356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tr-TR" dirty="0"/>
              <a:t>Click to edit Master title style</a:t>
            </a:r>
            <a:endParaRPr lang="en-US" altLang="tr-TR" dirty="0"/>
          </a:p>
        </p:txBody>
      </p:sp>
      <p:pic>
        <p:nvPicPr>
          <p:cNvPr id="1034" name="Picture 63" descr="04_icon_f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000" y="152400"/>
            <a:ext cx="1066800" cy="1066800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800" b="1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v"/>
        <a:defRPr sz="2800" b="1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Arial" panose="020B0604020202020204" pitchFamily="34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Arial" panose="020B0604020202020204" pitchFamily="34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Arial" panose="020B0604020202020204" pitchFamily="34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Arial" panose="020B0604020202020204" pitchFamily="34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hyperlink" Target="http://staff.emu.edu.tr/raygankansoy/en/teaching/itec229" TargetMode="External"/><Relationship Id="rId1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tr-TR" altLang="tr-TR" sz="2400" dirty="0"/>
              <a:t>CONTENT</a:t>
            </a:r>
            <a:endParaRPr lang="en-US" altLang="tr-TR" sz="2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95400"/>
            <a:ext cx="6629400" cy="3048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9.1  Styling Links</a:t>
            </a:r>
            <a:endParaRPr kumimoji="0" lang="tr-TR" sz="2200" b="1" i="0" u="none" strike="noStrike" kern="0" cap="none" spc="0" normalizeH="0" baseline="0" noProof="0" dirty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9.2  Styling Lists</a:t>
            </a:r>
            <a:endParaRPr kumimoji="0" lang="tr-TR" sz="2200" b="1" i="0" u="none" strike="noStrike" kern="0" cap="none" spc="0" normalizeH="0" baseline="0" noProof="0" dirty="0" smtClean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2200" b="1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</a:t>
            </a:r>
            <a:r>
              <a:rPr kumimoji="0" lang="tr-TR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.3  Styling Tables</a:t>
            </a:r>
            <a:endParaRPr kumimoji="0" lang="tr-TR" sz="2200" b="1" i="0" u="none" strike="noStrike" kern="0" cap="none" spc="0" normalizeH="0" baseline="0" noProof="0" dirty="0" smtClean="0">
              <a:ln>
                <a:noFill/>
              </a:ln>
              <a:solidFill>
                <a:schemeClr val="accent5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ts val="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2200" b="1" i="0" u="none" strike="noStrike" kern="0" cap="none" spc="0" normalizeH="0" baseline="0" noProof="0" dirty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</a:t>
            </a:r>
            <a:r>
              <a:rPr kumimoji="0" lang="tr-TR" sz="22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5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.4  CSS Box Model</a:t>
            </a:r>
            <a:endParaRPr kumimoji="0" lang="en-US" sz="22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124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>
              <a:buNone/>
            </a:pPr>
            <a:r>
              <a:rPr lang="tr-TR" altLang="tr-TR" sz="2400" dirty="0"/>
              <a:t>9.1 </a:t>
            </a:r>
            <a:r>
              <a:rPr lang="en-US" altLang="tr-TR" sz="2400" dirty="0"/>
              <a:t>Styling Links</a:t>
            </a:r>
            <a:endParaRPr lang="en-US" altLang="tr-TR" sz="2400" dirty="0"/>
          </a:p>
        </p:txBody>
      </p:sp>
      <p:sp>
        <p:nvSpPr>
          <p:cNvPr id="6147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01" name="Rectangle 3"/>
          <p:cNvSpPr>
            <a:spLocks noChangeArrowheads="1"/>
          </p:cNvSpPr>
          <p:nvPr/>
        </p:nvSpPr>
        <p:spPr bwMode="auto">
          <a:xfrm>
            <a:off x="762000" y="1066800"/>
            <a:ext cx="7924800" cy="5386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Links can be styled with any CSS property (e.g. color, font-family, background, etc.).</a:t>
            </a:r>
            <a:endParaRPr kumimoji="0" lang="tr-T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Special for links are that they can be styled differently depending on what state they are in.</a:t>
            </a:r>
            <a:endParaRPr kumimoji="0" lang="tr-T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The four links states are: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a:link - a normal, unvisited link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a:visited - a link the user has visited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a:hover - a link when the user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mouses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 over it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a:active - a link the moment it is clicked</a:t>
            </a:r>
            <a:endParaRPr kumimoji="0" lang="tr-T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Example</a:t>
            </a:r>
            <a:r>
              <a:rPr kumimoji="0" lang="tr-TR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: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a:link {color:#FF0000;}      /* unvisited link */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a:visited {color:#00FF00;}  /* visited link */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a:hover {color:#FF00FF;}  /* mouse over link */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a:active {color:#0000FF;}  /* selected link */</a:t>
            </a:r>
            <a:endParaRPr kumimoji="0" lang="tr-T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When setting the style for several link states, there are some order rules: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a:hover MUST come after a:link and a:visited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742950" marR="0" lvl="1" indent="-28575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a:active MUST come after a:hover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>
              <a:buNone/>
            </a:pPr>
            <a:r>
              <a:rPr lang="tr-TR" altLang="tr-TR" sz="2400" dirty="0"/>
              <a:t>9.1 </a:t>
            </a:r>
            <a:r>
              <a:rPr lang="en-US" altLang="tr-TR" sz="2400" dirty="0"/>
              <a:t>Styling Links</a:t>
            </a:r>
            <a:endParaRPr lang="en-US" altLang="tr-TR" sz="2400" dirty="0"/>
          </a:p>
        </p:txBody>
      </p:sp>
      <p:sp>
        <p:nvSpPr>
          <p:cNvPr id="7171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25" name="Rectangle 3"/>
          <p:cNvSpPr>
            <a:spLocks noChangeArrowheads="1"/>
          </p:cNvSpPr>
          <p:nvPr/>
        </p:nvSpPr>
        <p:spPr bwMode="auto">
          <a:xfrm>
            <a:off x="609600" y="1154113"/>
            <a:ext cx="8077200" cy="5170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Text Decoration</a:t>
            </a:r>
            <a:endParaRPr kumimoji="0" lang="tr-TR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tr-TR" sz="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The text-decoration property is mostly used to remove underlines from links:</a:t>
            </a:r>
            <a:endParaRPr kumimoji="0" lang="tr-T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Example</a:t>
            </a:r>
            <a:r>
              <a:rPr kumimoji="0" lang="tr-TR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: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a:link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text-decoration:none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;}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a:visited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text-decoration:none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;}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a:hover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text-decoration:underline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;}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a:active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text-decoration:underline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;}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tr-T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Background Color</a:t>
            </a:r>
            <a:endParaRPr kumimoji="0" lang="tr-TR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6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The background-color property specifies the background color for links:</a:t>
            </a:r>
            <a:endParaRPr kumimoji="0" lang="tr-T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Example</a:t>
            </a:r>
            <a:r>
              <a:rPr kumimoji="0" lang="tr-TR" sz="18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: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a:link {background-color:#B2FF99;}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a:visited {background-color:#FFFF85;}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a:hover {background-color:#FF704D;}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a:active {background-color:#FF704D;}</a:t>
            </a:r>
            <a:endParaRPr kumimoji="0" lang="tr-TR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>
              <a:buNone/>
            </a:pPr>
            <a:r>
              <a:rPr lang="tr-TR" altLang="tr-TR" sz="2400" dirty="0"/>
              <a:t>9.1 </a:t>
            </a:r>
            <a:r>
              <a:rPr lang="en-US" altLang="tr-TR" sz="2400" dirty="0"/>
              <a:t>Styling Links</a:t>
            </a:r>
            <a:endParaRPr lang="en-US" altLang="tr-TR" sz="2400" dirty="0"/>
          </a:p>
        </p:txBody>
      </p:sp>
      <p:sp>
        <p:nvSpPr>
          <p:cNvPr id="8195" name="Content Placeholder 1"/>
          <p:cNvSpPr>
            <a:spLocks noGrp="1"/>
          </p:cNvSpPr>
          <p:nvPr>
            <p:ph idx="1"/>
          </p:nvPr>
        </p:nvSpPr>
        <p:spPr>
          <a:xfrm>
            <a:off x="609600" y="1143000"/>
            <a:ext cx="8229600" cy="457200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tr-TR" altLang="tr-TR" sz="2000" dirty="0"/>
              <a:t>Example 1 – Adding different styles to hyperlinks: </a:t>
            </a:r>
            <a:endParaRPr lang="en-US" altLang="tr-TR" sz="2000" dirty="0"/>
          </a:p>
        </p:txBody>
      </p:sp>
      <p:sp>
        <p:nvSpPr>
          <p:cNvPr id="8196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85800" y="1676400"/>
            <a:ext cx="6781800" cy="4495800"/>
          </a:xfrm>
          <a:prstGeom prst="rect">
            <a:avLst/>
          </a:prstGeom>
          <a:ln w="50800"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&lt;html&gt;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&lt;head&gt;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&lt;style type="text/</a:t>
            </a:r>
            <a:r>
              <a:rPr kumimoji="0" lang="en-US" sz="1200" b="1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css</a:t>
            </a: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"&gt;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a.one:link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{color:#ff0000;}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a.one:visited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{color:#0000ff;}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a.one:hover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{color:#ffcc00;}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a.two:link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{color:#ff0000;}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a.two:visited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{color:#0000ff;}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a.two:hover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{font-size:150%;}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a.three:link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{color:#ff0000;}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a.three:visited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{color:#0000ff;}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a.three:hover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{background:#66ff66;}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a.four:link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{color:#ff0000;}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a.four:visited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{color:#0000ff;}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a.four:hover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{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font-family:monospace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;}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a.five:link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{color:#ff0000;text-decoration:none;}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a.five:visited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{color:#0000ff;text-decoration:none;}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a.five:hover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{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text-decoration:underline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;}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1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&lt;/style&gt;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&lt;/head&gt;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>
              <a:buNone/>
            </a:pPr>
            <a:r>
              <a:rPr lang="tr-TR" altLang="tr-TR" sz="2400" dirty="0"/>
              <a:t>9.1 </a:t>
            </a:r>
            <a:r>
              <a:rPr lang="en-US" altLang="tr-TR" sz="2400" dirty="0"/>
              <a:t>Styling Links</a:t>
            </a:r>
            <a:endParaRPr lang="en-US" altLang="tr-TR" sz="2400" dirty="0"/>
          </a:p>
        </p:txBody>
      </p:sp>
      <p:sp>
        <p:nvSpPr>
          <p:cNvPr id="9219" name="Content Placeholder 1"/>
          <p:cNvSpPr>
            <a:spLocks noGrp="1"/>
          </p:cNvSpPr>
          <p:nvPr>
            <p:ph idx="1"/>
          </p:nvPr>
        </p:nvSpPr>
        <p:spPr>
          <a:xfrm>
            <a:off x="609600" y="1143000"/>
            <a:ext cx="8229600" cy="457200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tr-TR" altLang="tr-TR" sz="2000" dirty="0"/>
              <a:t>Example 1 – Adding different styles to hyperlinks: </a:t>
            </a:r>
            <a:endParaRPr lang="en-US" altLang="tr-TR" sz="2000" dirty="0"/>
          </a:p>
        </p:txBody>
      </p:sp>
      <p:sp>
        <p:nvSpPr>
          <p:cNvPr id="9220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685800" y="1676400"/>
            <a:ext cx="6781800" cy="4572000"/>
          </a:xfrm>
          <a:prstGeom prst="rect">
            <a:avLst/>
          </a:prstGeom>
          <a:ln w="50800"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&lt;body&gt;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&lt;p&gt;Mouse over the links to see them change layout.&lt;/p&gt;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&lt;p&gt;&lt;b&gt;&lt;a class="one"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href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="default.asp" target="_blank"&gt;This link changes color&lt;/a&gt;&lt;/b&gt;&lt;/p&gt;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&lt;p&gt;&lt;b&gt;&lt;a class="two"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href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="default.asp" target="_blank"&gt;This link changes font-size&lt;/a&gt;&lt;/b&gt;&lt;/p&gt;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&lt;p&gt;&lt;b&gt;&lt;a class="three"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href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="default.asp" target="_blank"&gt;This link changes background-color&lt;/a&gt;&lt;/b&gt;&lt;/p&gt;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&lt;p&gt;&lt;b&gt;&lt;a class="four"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href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="default.asp" target="_blank"&gt;This link changes font-family&lt;/a&gt;&lt;/b&gt;&lt;/p&gt;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&lt;p&gt;&lt;b&gt;&lt;a class="five" </a:t>
            </a:r>
            <a:r>
              <a:rPr kumimoji="0" lang="en-US" sz="1400" b="0" i="0" u="none" strike="noStrike" kern="1200" cap="none" spc="0" normalizeH="0" baseline="0" noProof="0" dirty="0" err="1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href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="default.asp" target="_blank"&gt;This link changes text-decoration&lt;/a&gt;&lt;/b&gt;&lt;/p&gt;</a:t>
            </a:r>
            <a:endParaRPr kumimoji="0" lang="tr-TR" sz="1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&lt;/body&gt;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&lt;/html&gt;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>
              <a:buNone/>
            </a:pPr>
            <a:r>
              <a:rPr lang="tr-TR" altLang="tr-TR" sz="2400" dirty="0"/>
              <a:t>9.1 </a:t>
            </a:r>
            <a:r>
              <a:rPr lang="en-US" altLang="tr-TR" sz="2400" dirty="0"/>
              <a:t>Styling Links</a:t>
            </a:r>
            <a:endParaRPr lang="en-US" altLang="tr-TR" sz="2400" dirty="0"/>
          </a:p>
        </p:txBody>
      </p:sp>
      <p:sp>
        <p:nvSpPr>
          <p:cNvPr id="10243" name="Content Placeholder 1"/>
          <p:cNvSpPr>
            <a:spLocks noGrp="1"/>
          </p:cNvSpPr>
          <p:nvPr>
            <p:ph idx="1"/>
          </p:nvPr>
        </p:nvSpPr>
        <p:spPr>
          <a:xfrm>
            <a:off x="609600" y="1143000"/>
            <a:ext cx="8229600" cy="457200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tr-TR" altLang="tr-TR" sz="2000" dirty="0"/>
              <a:t>Example 1 - Result: </a:t>
            </a:r>
            <a:endParaRPr lang="en-US" altLang="tr-TR" sz="2000" dirty="0"/>
          </a:p>
        </p:txBody>
      </p:sp>
      <p:sp>
        <p:nvSpPr>
          <p:cNvPr id="10244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/>
          <p:nvPr/>
        </p:nvSpPr>
        <p:spPr bwMode="auto">
          <a:xfrm>
            <a:off x="838200" y="1905000"/>
            <a:ext cx="6781800" cy="2590800"/>
          </a:xfrm>
          <a:prstGeom prst="rect">
            <a:avLst/>
          </a:prstGeom>
          <a:ln w="50800"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0246" name="Picture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600" y="1981200"/>
            <a:ext cx="3352800" cy="2386013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7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0575" y="2171700"/>
            <a:ext cx="2181225" cy="266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8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8200" y="2625725"/>
            <a:ext cx="2743200" cy="26987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49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43400" y="3124200"/>
            <a:ext cx="3086100" cy="3048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50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7200" y="3505200"/>
            <a:ext cx="3162300" cy="357188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0251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67200" y="4014788"/>
            <a:ext cx="3276600" cy="32861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3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>
              <a:buNone/>
            </a:pPr>
            <a:r>
              <a:rPr lang="tr-TR" altLang="tr-TR" sz="2400" dirty="0"/>
              <a:t>9.2 Styling Lists</a:t>
            </a:r>
            <a:endParaRPr lang="en-US" altLang="tr-TR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162050"/>
            <a:ext cx="8229600" cy="49339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CSS list properties allow you to: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Set different list item markers for ordered lists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Set different list item markers for unordered lists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Set an image as the list item 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marker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 HTML, there are two types of lists: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unordered lists - the list items are marked with bullets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ordered lists - the list items are marked with numbers or letters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With CSS, lists can be styled further, and images can be used as the list item marker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type of list item marker is specified with the list-style-type property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</a:rPr>
              <a:t>Example</a:t>
            </a: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</a:rPr>
              <a:t>: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ul.a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{list-style-type: circle;}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ul.b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{list-style-type: square;}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ol.c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{list-style-type: upper-roman;}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ol.d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{list-style-type: lower-alpha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;}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1268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>
              <a:buNone/>
            </a:pPr>
            <a:r>
              <a:rPr lang="tr-TR" altLang="tr-TR" sz="2400" dirty="0"/>
              <a:t>9.2 Styling Lists</a:t>
            </a:r>
            <a:endParaRPr lang="en-US" altLang="tr-TR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457200" y="1238250"/>
            <a:ext cx="8229600" cy="49339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An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Image as The List Item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Marker</a:t>
            </a:r>
            <a:endParaRPr kumimoji="0" lang="tr-TR" sz="1800" b="1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10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specify an image as the list item marker, use the list-style-image property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6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Example</a:t>
            </a: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: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ul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{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list-style-image: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url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('sqpurple.gif');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}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en-US" sz="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 above does not display equally in all browsers. IE and Opera will display the image-marker a little bit higher than Firefox, Chrome, and Safari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If you want the image-marker to be placed equally in all browsers, </a:t>
            </a: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you should use 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crossbrowser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solution </a:t>
            </a: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which 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is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explained below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292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>
              <a:buNone/>
            </a:pPr>
            <a:r>
              <a:rPr lang="tr-TR" altLang="tr-TR" sz="2400" dirty="0"/>
              <a:t>9.2 Styling Lists</a:t>
            </a:r>
            <a:endParaRPr lang="en-US" altLang="tr-TR" sz="2400" dirty="0"/>
          </a:p>
        </p:txBody>
      </p:sp>
      <p:sp>
        <p:nvSpPr>
          <p:cNvPr id="13315" name="Content Placeholder 3"/>
          <p:cNvSpPr>
            <a:spLocks noGrp="1"/>
          </p:cNvSpPr>
          <p:nvPr>
            <p:ph idx="1"/>
          </p:nvPr>
        </p:nvSpPr>
        <p:spPr>
          <a:xfrm>
            <a:off x="838200" y="2305050"/>
            <a:ext cx="3505200" cy="3714750"/>
          </a:xfrm>
        </p:spPr>
        <p:txBody>
          <a:bodyPr vert="horz" wrap="square" lIns="91440" tIns="45720" rIns="91440" bIns="45720" anchor="t" anchorCtr="0"/>
          <a:p>
            <a:pPr marL="0" indent="0">
              <a:buNone/>
            </a:pPr>
            <a:r>
              <a:rPr lang="en-US" altLang="tr-TR" sz="1800" dirty="0">
                <a:solidFill>
                  <a:srgbClr val="002060"/>
                </a:solidFill>
              </a:rPr>
              <a:t>Example</a:t>
            </a:r>
            <a:r>
              <a:rPr lang="tr-TR" altLang="tr-TR" sz="1800" dirty="0">
                <a:solidFill>
                  <a:srgbClr val="002060"/>
                </a:solidFill>
              </a:rPr>
              <a:t>:</a:t>
            </a:r>
            <a:endParaRPr lang="en-US" altLang="tr-TR" sz="1800" dirty="0">
              <a:solidFill>
                <a:srgbClr val="002060"/>
              </a:solidFill>
            </a:endParaRPr>
          </a:p>
          <a:p>
            <a:pPr marL="0" indent="0">
              <a:buNone/>
            </a:pPr>
            <a:r>
              <a:rPr lang="en-US" altLang="tr-TR" sz="1400" dirty="0">
                <a:solidFill>
                  <a:srgbClr val="002060"/>
                </a:solidFill>
              </a:rPr>
              <a:t>ul</a:t>
            </a:r>
            <a:br>
              <a:rPr lang="en-US" altLang="tr-TR" sz="1400" dirty="0">
                <a:solidFill>
                  <a:srgbClr val="002060"/>
                </a:solidFill>
              </a:rPr>
            </a:br>
            <a:r>
              <a:rPr lang="en-US" altLang="tr-TR" sz="1400" dirty="0">
                <a:solidFill>
                  <a:srgbClr val="002060"/>
                </a:solidFill>
              </a:rPr>
              <a:t>{</a:t>
            </a:r>
            <a:br>
              <a:rPr lang="en-US" altLang="tr-TR" sz="1400" dirty="0">
                <a:solidFill>
                  <a:srgbClr val="002060"/>
                </a:solidFill>
              </a:rPr>
            </a:br>
            <a:r>
              <a:rPr lang="en-US" altLang="tr-TR" sz="1400" dirty="0">
                <a:solidFill>
                  <a:srgbClr val="002060"/>
                </a:solidFill>
              </a:rPr>
              <a:t>list-style-type: none;</a:t>
            </a:r>
            <a:br>
              <a:rPr lang="en-US" altLang="tr-TR" sz="1400" dirty="0">
                <a:solidFill>
                  <a:srgbClr val="002060"/>
                </a:solidFill>
              </a:rPr>
            </a:br>
            <a:r>
              <a:rPr lang="en-US" altLang="tr-TR" sz="1400" dirty="0">
                <a:solidFill>
                  <a:srgbClr val="002060"/>
                </a:solidFill>
              </a:rPr>
              <a:t>padding: 0px;</a:t>
            </a:r>
            <a:br>
              <a:rPr lang="en-US" altLang="tr-TR" sz="1400" dirty="0">
                <a:solidFill>
                  <a:srgbClr val="002060"/>
                </a:solidFill>
              </a:rPr>
            </a:br>
            <a:r>
              <a:rPr lang="en-US" altLang="tr-TR" sz="1400" dirty="0">
                <a:solidFill>
                  <a:srgbClr val="002060"/>
                </a:solidFill>
              </a:rPr>
              <a:t>margin: 0px;</a:t>
            </a:r>
            <a:br>
              <a:rPr lang="en-US" altLang="tr-TR" sz="1400" dirty="0">
                <a:solidFill>
                  <a:srgbClr val="002060"/>
                </a:solidFill>
              </a:rPr>
            </a:br>
            <a:r>
              <a:rPr lang="en-US" altLang="tr-TR" sz="1400" dirty="0">
                <a:solidFill>
                  <a:srgbClr val="002060"/>
                </a:solidFill>
              </a:rPr>
              <a:t>}</a:t>
            </a:r>
            <a:endParaRPr lang="tr-TR" altLang="tr-TR" sz="1400" dirty="0">
              <a:solidFill>
                <a:srgbClr val="002060"/>
              </a:solidFill>
            </a:endParaRPr>
          </a:p>
          <a:p>
            <a:pPr marL="0" indent="0">
              <a:buNone/>
            </a:pPr>
            <a:br>
              <a:rPr lang="en-US" altLang="tr-TR" sz="1400" dirty="0">
                <a:solidFill>
                  <a:srgbClr val="002060"/>
                </a:solidFill>
              </a:rPr>
            </a:br>
            <a:r>
              <a:rPr lang="en-US" altLang="tr-TR" sz="1400" dirty="0">
                <a:solidFill>
                  <a:srgbClr val="002060"/>
                </a:solidFill>
              </a:rPr>
              <a:t>li</a:t>
            </a:r>
            <a:br>
              <a:rPr lang="en-US" altLang="tr-TR" sz="1400" dirty="0">
                <a:solidFill>
                  <a:srgbClr val="002060"/>
                </a:solidFill>
              </a:rPr>
            </a:br>
            <a:r>
              <a:rPr lang="en-US" altLang="tr-TR" sz="1400" dirty="0">
                <a:solidFill>
                  <a:srgbClr val="002060"/>
                </a:solidFill>
              </a:rPr>
              <a:t>{</a:t>
            </a:r>
            <a:br>
              <a:rPr lang="en-US" altLang="tr-TR" sz="1400" dirty="0">
                <a:solidFill>
                  <a:srgbClr val="002060"/>
                </a:solidFill>
              </a:rPr>
            </a:br>
            <a:r>
              <a:rPr lang="en-US" altLang="tr-TR" sz="1400" dirty="0">
                <a:solidFill>
                  <a:srgbClr val="002060"/>
                </a:solidFill>
              </a:rPr>
              <a:t>background-image: url(sqpurple.gif);</a:t>
            </a:r>
            <a:br>
              <a:rPr lang="en-US" altLang="tr-TR" sz="1400" dirty="0">
                <a:solidFill>
                  <a:srgbClr val="002060"/>
                </a:solidFill>
              </a:rPr>
            </a:br>
            <a:r>
              <a:rPr lang="en-US" altLang="tr-TR" sz="1400" dirty="0">
                <a:solidFill>
                  <a:srgbClr val="002060"/>
                </a:solidFill>
              </a:rPr>
              <a:t>background-repeat: no-repeat;</a:t>
            </a:r>
            <a:br>
              <a:rPr lang="en-US" altLang="tr-TR" sz="1400" dirty="0">
                <a:solidFill>
                  <a:srgbClr val="002060"/>
                </a:solidFill>
              </a:rPr>
            </a:br>
            <a:r>
              <a:rPr lang="en-US" altLang="tr-TR" sz="1400" dirty="0">
                <a:solidFill>
                  <a:srgbClr val="002060"/>
                </a:solidFill>
              </a:rPr>
              <a:t>background-position: 0px 5px; </a:t>
            </a:r>
            <a:br>
              <a:rPr lang="en-US" altLang="tr-TR" sz="1400" dirty="0">
                <a:solidFill>
                  <a:srgbClr val="002060"/>
                </a:solidFill>
              </a:rPr>
            </a:br>
            <a:r>
              <a:rPr lang="en-US" altLang="tr-TR" sz="1400" dirty="0">
                <a:solidFill>
                  <a:srgbClr val="002060"/>
                </a:solidFill>
              </a:rPr>
              <a:t>padding-left: 14px; </a:t>
            </a:r>
            <a:br>
              <a:rPr lang="en-US" altLang="tr-TR" sz="1400" dirty="0">
                <a:solidFill>
                  <a:srgbClr val="002060"/>
                </a:solidFill>
              </a:rPr>
            </a:br>
            <a:r>
              <a:rPr lang="en-US" altLang="tr-TR" sz="1400" dirty="0">
                <a:solidFill>
                  <a:srgbClr val="002060"/>
                </a:solidFill>
              </a:rPr>
              <a:t>}</a:t>
            </a:r>
            <a:endParaRPr lang="en-US" altLang="tr-TR" sz="1400" dirty="0">
              <a:solidFill>
                <a:srgbClr val="002060"/>
              </a:solidFill>
            </a:endParaRPr>
          </a:p>
          <a:p>
            <a:pPr marL="0" indent="0">
              <a:buNone/>
            </a:pPr>
            <a:endParaRPr lang="en-US" altLang="tr-TR" sz="1800" dirty="0"/>
          </a:p>
        </p:txBody>
      </p:sp>
      <p:sp>
        <p:nvSpPr>
          <p:cNvPr id="13316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Content Placeholder 3"/>
          <p:cNvSpPr txBox="1"/>
          <p:nvPr/>
        </p:nvSpPr>
        <p:spPr bwMode="gray">
          <a:xfrm>
            <a:off x="3733800" y="2000250"/>
            <a:ext cx="4953000" cy="4324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</a:t>
            </a:r>
            <a:r>
              <a:rPr kumimoji="0" lang="en-US" sz="18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ul</a:t>
            </a: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Set the list-style-type to none to remove the list item marker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Set both padding and margin to 0px (for cross-browser compatibility)</a:t>
            </a:r>
            <a:endParaRPr kumimoji="0" lang="tr-TR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For li: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Set the URL of the image, and show it only once (no-repeat)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Position the image where you want it (left 0px and down 5px)</a:t>
            </a:r>
            <a:endParaRPr kumimoji="0" lang="en-US" sz="18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Position the text in the list with padding-left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504825" y="1143000"/>
            <a:ext cx="8181975" cy="10461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en-US" b="1" kern="1200" cap="none" spc="0" normalizeH="0" baseline="0" noProof="0" dirty="0" err="1"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20204" pitchFamily="34" charset="0"/>
              </a:rPr>
              <a:t>Crossbrowser</a:t>
            </a:r>
            <a:r>
              <a:rPr kumimoji="0" lang="en-US" b="1" kern="1200" cap="none" spc="0" normalizeH="0" baseline="0" noProof="0" dirty="0"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20204" pitchFamily="34" charset="0"/>
              </a:rPr>
              <a:t> Solution</a:t>
            </a:r>
            <a:endParaRPr kumimoji="0" lang="tr-TR" b="1" kern="1200" cap="none" spc="0" normalizeH="0" baseline="0" noProof="0" dirty="0">
              <a:solidFill>
                <a:schemeClr val="accent4">
                  <a:lumMod val="90000"/>
                  <a:lumOff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Arial" panose="020B0604020202020204" pitchFamily="34" charset="0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endParaRPr kumimoji="0" lang="en-US" sz="800" b="1" kern="1200" cap="none" spc="0" normalizeH="0" baseline="0" noProof="0" dirty="0">
              <a:solidFill>
                <a:schemeClr val="accent4">
                  <a:lumMod val="90000"/>
                  <a:lumOff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Arial" panose="020B0604020202020204" pitchFamily="34" charset="0"/>
            </a:endParaRPr>
          </a:p>
          <a:p>
            <a:pPr marL="285750" marR="0" indent="-285750" defTabSz="914400" eaLnBrk="1" hangingPunct="1"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kern="1200" cap="none" spc="0" normalizeH="0" baseline="0" noProof="0" dirty="0">
                <a:solidFill>
                  <a:schemeClr val="accent4">
                    <a:lumMod val="90000"/>
                    <a:lumOff val="10000"/>
                  </a:schemeClr>
                </a:solidFill>
                <a:latin typeface="+mn-lt"/>
                <a:ea typeface="+mn-ea"/>
                <a:cs typeface="Arial" panose="020B0604020202020204" pitchFamily="34" charset="0"/>
              </a:rPr>
              <a:t>The following example displays the image-marker equally in all browsers:</a:t>
            </a:r>
            <a:endParaRPr kumimoji="0" lang="en-US" kern="1200" cap="none" spc="0" normalizeH="0" baseline="0" noProof="0" dirty="0">
              <a:solidFill>
                <a:schemeClr val="accent4">
                  <a:lumMod val="90000"/>
                  <a:lumOff val="10000"/>
                </a:schemeClr>
              </a:solidFill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8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>
              <a:buNone/>
            </a:pPr>
            <a:r>
              <a:rPr lang="tr-TR" altLang="tr-TR" sz="2400" dirty="0"/>
              <a:t>9.2 Styling Lists</a:t>
            </a:r>
            <a:endParaRPr lang="en-US" altLang="tr-TR" sz="2400" dirty="0"/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33400" y="1162050"/>
            <a:ext cx="8229600" cy="49339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List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 Shorthand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property</a:t>
            </a:r>
            <a:endParaRPr kumimoji="0" lang="tr-TR" sz="1800" b="1" i="0" u="none" strike="noStrike" kern="0" cap="none" spc="0" normalizeH="0" baseline="0" noProof="0" dirty="0" smtClean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10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 is also possible to specify all the list properties in one, single property. This is called a shorthand property.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shorthand property used for lists, is the list-style property: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</a:t>
            </a:r>
            <a:r>
              <a:rPr kumimoji="0" lang="tr-TR" sz="1800" b="1" i="0" u="none" strike="noStrike" kern="0" cap="none" spc="0" normalizeH="0" baseline="0" noProof="0" dirty="0" smtClean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00206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ul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list-style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 square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url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("sqpurple.gif");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	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}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When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using the shorthand property, the order of the values are: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list-style-type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list-style-position (for a description, see the CSS properties table below)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list-style-image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 does not matter if one of the values above are missing, as long as the rest are in the specified order.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340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>
              <a:buNone/>
            </a:pPr>
            <a:r>
              <a:rPr lang="tr-TR" altLang="tr-TR" sz="2400" dirty="0"/>
              <a:t>9.2 Styling Lists</a:t>
            </a:r>
            <a:endParaRPr lang="en-US" altLang="tr-TR" sz="2400" dirty="0"/>
          </a:p>
        </p:txBody>
      </p:sp>
      <p:sp>
        <p:nvSpPr>
          <p:cNvPr id="15363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85800" y="2209800"/>
          <a:ext cx="7848600" cy="2206625"/>
        </p:xfrm>
        <a:graphic>
          <a:graphicData uri="http://schemas.openxmlformats.org/drawingml/2006/table">
            <a:tbl>
              <a:tblPr/>
              <a:tblGrid>
                <a:gridCol w="2483487"/>
                <a:gridCol w="5365113"/>
              </a:tblGrid>
              <a:tr h="331565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  <a:latin typeface="Verdana" panose="020B0604030504040204"/>
                        </a:rPr>
                        <a:t>Property</a:t>
                      </a:r>
                      <a:endParaRPr lang="en-US" sz="1800" dirty="0"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E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  <a:latin typeface="Verdana" panose="020B0604030504040204"/>
                        </a:rPr>
                        <a:t>Description</a:t>
                      </a:r>
                      <a:endParaRPr lang="en-US" sz="1800"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ECC"/>
                    </a:solidFill>
                  </a:tcPr>
                </a:tc>
              </a:tr>
              <a:tr h="605965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>
                          <a:solidFill>
                            <a:schemeClr val="accent4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Verdana" panose="020B0604030504040204"/>
                        </a:rPr>
                        <a:t>list-style</a:t>
                      </a:r>
                      <a:endParaRPr lang="en-US" sz="1800" b="1" dirty="0">
                        <a:solidFill>
                          <a:schemeClr val="accent4">
                            <a:lumMod val="90000"/>
                            <a:lumOff val="10000"/>
                          </a:schemeClr>
                        </a:solidFill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  <a:latin typeface="Verdana" panose="020B0604030504040204"/>
                        </a:rPr>
                        <a:t>Sets all the properties for a list in one declaration</a:t>
                      </a:r>
                      <a:endParaRPr lang="en-US" sz="1800"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565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>
                          <a:solidFill>
                            <a:schemeClr val="accent4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Verdana" panose="020B0604030504040204"/>
                        </a:rPr>
                        <a:t>list-style-image</a:t>
                      </a:r>
                      <a:endParaRPr lang="en-US" sz="1800" b="1" dirty="0">
                        <a:solidFill>
                          <a:schemeClr val="accent4">
                            <a:lumMod val="90000"/>
                            <a:lumOff val="10000"/>
                          </a:schemeClr>
                        </a:solidFill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  <a:latin typeface="Verdana" panose="020B0604030504040204"/>
                        </a:rPr>
                        <a:t>Specifies an image as the list-item marker</a:t>
                      </a:r>
                      <a:endParaRPr lang="en-US" sz="1800"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5965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>
                          <a:solidFill>
                            <a:schemeClr val="accent4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Verdana" panose="020B0604030504040204"/>
                        </a:rPr>
                        <a:t>list-style-position</a:t>
                      </a:r>
                      <a:endParaRPr lang="en-US" sz="1800" b="1" dirty="0">
                        <a:solidFill>
                          <a:schemeClr val="accent4">
                            <a:lumMod val="90000"/>
                            <a:lumOff val="10000"/>
                          </a:schemeClr>
                        </a:solidFill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  <a:latin typeface="Verdana" panose="020B0604030504040204"/>
                        </a:rPr>
                        <a:t>Specifies if the list-item markers should appear inside or outside the content flow</a:t>
                      </a:r>
                      <a:endParaRPr lang="en-US" sz="1800"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565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>
                          <a:solidFill>
                            <a:schemeClr val="accent4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Verdana" panose="020B0604030504040204"/>
                        </a:rPr>
                        <a:t>list-style-type</a:t>
                      </a:r>
                      <a:endParaRPr lang="en-US" sz="1800" b="1" dirty="0">
                        <a:solidFill>
                          <a:schemeClr val="accent4">
                            <a:lumMod val="90000"/>
                            <a:lumOff val="10000"/>
                          </a:schemeClr>
                        </a:solidFill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  <a:latin typeface="Verdana" panose="020B0604030504040204"/>
                        </a:rPr>
                        <a:t>Specifies the type of list-item marker</a:t>
                      </a:r>
                      <a:endParaRPr lang="en-US" sz="1800" dirty="0"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384" name="Rectangle 1"/>
          <p:cNvSpPr/>
          <p:nvPr/>
        </p:nvSpPr>
        <p:spPr>
          <a:xfrm>
            <a:off x="685800" y="1493838"/>
            <a:ext cx="5334000" cy="487362"/>
          </a:xfrm>
          <a:prstGeom prst="rect">
            <a:avLst/>
          </a:prstGeom>
          <a:solidFill>
            <a:srgbClr val="FFFFFF"/>
          </a:solidFill>
          <a:ln w="9525">
            <a:noFill/>
          </a:ln>
        </p:spPr>
        <p:txBody>
          <a:bodyPr tIns="88872" bIns="88872" anchor="ctr" anchorCtr="0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</a:lstStyle>
          <a:p>
            <a:pPr marL="0" lvl="0" indent="0">
              <a:spcBef>
                <a:spcPct val="0"/>
              </a:spcBef>
              <a:buClrTx/>
              <a:buFontTx/>
              <a:buNone/>
            </a:pPr>
            <a:r>
              <a:rPr lang="en-US" altLang="tr-TR" sz="2000" dirty="0">
                <a:solidFill>
                  <a:srgbClr val="002060"/>
                </a:solidFill>
                <a:cs typeface="Arial" panose="020B0604020202020204" pitchFamily="34" charset="0"/>
              </a:rPr>
              <a:t>All CSS List Properties</a:t>
            </a:r>
            <a:endParaRPr lang="en-US" altLang="tr-TR" sz="2000" dirty="0">
              <a:solidFill>
                <a:srgbClr val="002060"/>
              </a:solidFill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7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>
              <a:buNone/>
            </a:pPr>
            <a:r>
              <a:rPr lang="tr-TR" altLang="tr-TR" sz="2400" dirty="0"/>
              <a:t>9.3 Styling Tables</a:t>
            </a:r>
            <a:endParaRPr lang="en-US" altLang="tr-TR" sz="2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49339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Table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Borders</a:t>
            </a:r>
            <a:endParaRPr kumimoji="0" lang="tr-TR" sz="1800" b="1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specify table borders in CSS, use the border property.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example below specifies a black border for table,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, and td elements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Example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table,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th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, td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{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border: 1px solid 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black;</a:t>
            </a:r>
            <a:b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}</a:t>
            </a: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Notice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that the table in the example above has double borders. This is because both the table and the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/td elements have separate borders.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display a single border for the table, use the border-collapse property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6388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/>
            <a:r>
              <a:rPr lang="tr-TR" altLang="tr-TR" sz="2400" dirty="0"/>
              <a:t>9.3 Styling Tables</a:t>
            </a:r>
            <a:endParaRPr lang="en-US" altLang="tr-TR" sz="2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Collapse Borders</a:t>
            </a:r>
            <a:endParaRPr kumimoji="0" lang="tr-TR" sz="1800" b="1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border-collapse property sets whether the table borders are collapsed into a single border or separated: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</a:rPr>
              <a:t>Example</a:t>
            </a: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</a:rPr>
              <a:t>: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/>
              <a:uLnTx/>
              <a:uFillTx/>
              <a:latin typeface="+mn-lt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table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{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border-collapse:collapse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;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}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table,th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, td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{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border: 1px solid black;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}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7412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>
              <a:buNone/>
            </a:pPr>
            <a:r>
              <a:rPr lang="tr-TR" altLang="tr-TR" sz="2400" dirty="0"/>
              <a:t>9.3 Styling Tables</a:t>
            </a:r>
            <a:endParaRPr lang="en-US" altLang="tr-TR" sz="2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Table Width and Height</a:t>
            </a: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Width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and height of a table is defined by the width and height properties.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example below sets the width of the table to 100%, and the height of the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elements to 50px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Example</a:t>
            </a: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: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table 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{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width:100%;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}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th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{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height:50px;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}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8436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>
              <a:buNone/>
            </a:pPr>
            <a:r>
              <a:rPr lang="tr-TR" altLang="tr-TR" sz="2400" dirty="0"/>
              <a:t>9.3 Styling Tables</a:t>
            </a:r>
            <a:endParaRPr lang="en-US" altLang="tr-TR" sz="2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62050"/>
            <a:ext cx="8229600" cy="52387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Table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Text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Alignment</a:t>
            </a:r>
            <a:endParaRPr kumimoji="0" lang="tr-TR" sz="1800" b="1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text in a table is aligned with the text-align and vertical-align properties.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text-align property sets the horizontal alignment, like left, right, or center: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</a:rPr>
              <a:t>Example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/>
              <a:uLnTx/>
              <a:uFillTx/>
              <a:latin typeface="+mn-lt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</a:rPr>
              <a:t>td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</a:rPr>
              <a:t>{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</a:rPr>
              <a:t>text-align:right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</a:rPr>
              <a:t>;</a:t>
            </a: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</a:rPr>
              <a:t> 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</a:rPr>
              <a:t>}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/>
              <a:uLnTx/>
              <a:uFillTx/>
              <a:latin typeface="+mn-lt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vertical-align property sets the vertical alignment, like top, bottom, or middle: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</a:rPr>
              <a:t>Example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/>
              <a:uLnTx/>
              <a:uFillTx/>
              <a:latin typeface="+mn-lt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</a:rPr>
              <a:t>td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</a:rPr>
              <a:t>{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</a:rPr>
              <a:t>height:50px;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</a:rPr>
              <a:t>vertical-align:bottom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</a:rPr>
              <a:t>;</a:t>
            </a: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</a:rPr>
              <a:t> 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</a:rPr>
              <a:t>}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19460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 eaLnBrk="1" hangingPunct="1">
              <a:buNone/>
            </a:pPr>
            <a:r>
              <a:rPr lang="tr-TR" altLang="tr-TR" sz="2400" dirty="0"/>
              <a:t>9.3 Styling Tables</a:t>
            </a:r>
            <a:endParaRPr lang="en-US" altLang="tr-TR" sz="2400" dirty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Table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Padding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control the space between the border and content in a table, use the padding property on td and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elements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Example</a:t>
            </a: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: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td</a:t>
            </a: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{</a:t>
            </a: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padding:15px;}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tr-TR" sz="18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Table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Color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example below specifies the color of the borders, and the text and background color of 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elements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Example</a:t>
            </a: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: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table, td, 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th</a:t>
            </a: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{</a:t>
            </a:r>
            <a:r>
              <a:rPr kumimoji="0" lang="tr-TR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border:1px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solid green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;}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th</a:t>
            </a: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{</a:t>
            </a: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background-color:green;color:white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;}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0484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>
              <a:buNone/>
            </a:pPr>
            <a:r>
              <a:rPr lang="tr-TR" altLang="tr-TR" dirty="0"/>
              <a:t>9.4 CSS Box Model</a:t>
            </a:r>
            <a:endParaRPr lang="en-US" altLang="tr-T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724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The CSS Box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Model</a:t>
            </a:r>
            <a:endParaRPr kumimoji="0" lang="tr-TR" sz="1800" b="1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CSS, the term "box model" is used when talking about design and layout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CSS box model is essentially a box that wraps around HTML elements, and it consists of: 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margins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, 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borders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, 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padding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, 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and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the actual content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.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box model allows us to place a border around elements and space elements in relation to other elements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1508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>
              <a:buNone/>
            </a:pPr>
            <a:r>
              <a:rPr lang="tr-TR" altLang="tr-TR" dirty="0"/>
              <a:t>9.4 CSS Box Model</a:t>
            </a:r>
            <a:endParaRPr lang="en-US" altLang="tr-T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The CSS Box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Model</a:t>
            </a:r>
            <a:endParaRPr kumimoji="0" lang="tr-TR" sz="1800" b="1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image below illustrates the box model: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Margin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- Clears an area </a:t>
            </a:r>
            <a:endParaRPr kumimoji="0" lang="tr-TR" sz="1600" b="0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around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border. The </a:t>
            </a:r>
            <a:endParaRPr kumimoji="0" lang="tr-TR" sz="1600" b="0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margin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does not have a </a:t>
            </a:r>
            <a:endParaRPr kumimoji="0" lang="tr-TR" sz="1600" b="0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background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color, it is </a:t>
            </a:r>
            <a:endParaRPr kumimoji="0" lang="tr-TR" sz="1600" b="0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completely transparent</a:t>
            </a:r>
            <a:r>
              <a:rPr kumimoji="0" lang="tr-T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Border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- A border that </a:t>
            </a:r>
            <a:endParaRPr kumimoji="0" lang="tr-TR" sz="1600" b="0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goes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around the padding </a:t>
            </a:r>
            <a:endParaRPr kumimoji="0" lang="tr-TR" sz="1600" b="0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and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content. The border is </a:t>
            </a:r>
            <a:endParaRPr kumimoji="0" lang="tr-TR" sz="1600" b="0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affected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by the background </a:t>
            </a:r>
            <a:endParaRPr kumimoji="0" lang="tr-TR" sz="1600" b="0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color 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 the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box</a:t>
            </a:r>
            <a:r>
              <a:rPr kumimoji="0" lang="tr-T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Padding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- Clears an area around the content. The padding is affected by the background color of the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box</a:t>
            </a:r>
            <a:r>
              <a:rPr kumimoji="0" lang="tr-T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Content</a:t>
            </a: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- The content of the box, where text and images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appear</a:t>
            </a:r>
            <a:r>
              <a:rPr kumimoji="0" lang="tr-TR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2532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2533" name="Picture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10000" y="2192338"/>
            <a:ext cx="4857750" cy="2684462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>
              <a:buNone/>
            </a:pPr>
            <a:r>
              <a:rPr lang="tr-TR" altLang="tr-TR" dirty="0"/>
              <a:t>9.4 CSS Box Model</a:t>
            </a:r>
            <a:endParaRPr lang="en-US" altLang="tr-T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Width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and Height of an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Element</a:t>
            </a:r>
            <a:endParaRPr kumimoji="0" lang="tr-TR" sz="1800" b="1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When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you set the width and height properties of an element with CSS, you just set the width and height of the 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content area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 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calculate the full size of an element, you must also add the padding, borders and margins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total width of the element in the example below is 300px: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width:250px;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padding:10px;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border:5px solid gray;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margin:10px;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Let's do the math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250px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(width)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+ 20px (left and right padding)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+ 10px (left and right border)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+ 20px (left and right margin)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= 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300px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3556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>
              <a:buNone/>
            </a:pPr>
            <a:r>
              <a:rPr lang="tr-TR" altLang="tr-TR" dirty="0"/>
              <a:t>9.4 CSS Box Model</a:t>
            </a:r>
            <a:endParaRPr lang="en-US" altLang="tr-T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Width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and Height of an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Element</a:t>
            </a:r>
            <a:endParaRPr kumimoji="0" lang="tr-TR" sz="1800" b="1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Assume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that you had only 250px of space. Let's make an element with a total width of 250px: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</a:rPr>
              <a:t>Example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/>
              <a:uLnTx/>
              <a:uFillTx/>
              <a:latin typeface="+mn-lt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</a:rPr>
              <a:t>width:220px;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</a:rPr>
              <a:t>padding:10px;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</a:rPr>
              <a:t>border:5px solid gray;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</a:rPr>
              <a:t>margin:0px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</a:rPr>
              <a:t>;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/>
              <a:uLnTx/>
              <a:uFillTx/>
              <a:latin typeface="+mn-lt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total width of an element should be calculated like this: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Total element width = width + left padding + right padding + left border + right border + left margin + right 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margin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total height of an element should be calculated like this: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Total element height = height + top padding + bottom padding + top border + bottom border + top margin + bottom 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margin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4580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>
              <a:buNone/>
            </a:pPr>
            <a:r>
              <a:rPr lang="tr-TR" altLang="tr-TR" dirty="0"/>
              <a:t>9.4 CSS Box Model</a:t>
            </a:r>
            <a:endParaRPr lang="en-US" altLang="tr-TR" dirty="0"/>
          </a:p>
        </p:txBody>
      </p:sp>
      <p:sp>
        <p:nvSpPr>
          <p:cNvPr id="24579" name="Content Placeholder 4"/>
          <p:cNvSpPr>
            <a:spLocks noGrp="1"/>
          </p:cNvSpPr>
          <p:nvPr>
            <p:ph idx="1"/>
          </p:nvPr>
        </p:nvSpPr>
        <p:spPr>
          <a:xfrm>
            <a:off x="609600" y="1143000"/>
            <a:ext cx="7543800" cy="1295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CSS Border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Properties</a:t>
            </a:r>
            <a:endParaRPr kumimoji="0" lang="tr-TR" sz="1800" b="1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CSS border properties allow you to specify the style and color of an element's border.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1800" b="1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5604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5605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2847975"/>
            <a:ext cx="7134225" cy="134302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>
              <a:buNone/>
            </a:pPr>
            <a:r>
              <a:rPr lang="tr-TR" altLang="tr-TR" dirty="0"/>
              <a:t>9.4 CSS Box Model</a:t>
            </a:r>
            <a:endParaRPr lang="en-US" altLang="tr-T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33400" y="1143000"/>
            <a:ext cx="8382000" cy="17335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CSS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Border </a:t>
            </a:r>
            <a:r>
              <a:rPr kumimoji="0" lang="tr-TR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Style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border-style property specifies what kind of border to display.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None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of the border properties will have ANY effect 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unless</a:t>
            </a: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t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he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border-style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property is set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!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border-style values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6628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6629" name="Picture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200" y="2876550"/>
            <a:ext cx="6134100" cy="34480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7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ransition spd="slow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>
              <a:buNone/>
            </a:pPr>
            <a:r>
              <a:rPr lang="tr-TR" altLang="tr-TR" dirty="0"/>
              <a:t>9.4 CSS Box Model</a:t>
            </a:r>
            <a:endParaRPr lang="en-US" altLang="tr-T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CSS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Border </a:t>
            </a:r>
            <a:r>
              <a:rPr kumimoji="0" lang="tr-TR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Width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border-width property is used to set the width of the border.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width is set in pixels, or by using one of the three pre-defined values: thin, medium, or thick.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tr-TR" sz="800" b="1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Note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The "border-width" property does not work if it is used alone. Use the "border-style" property to set the borders first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Example</a:t>
            </a: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: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p.one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{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border-style:solid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;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border-width:5px;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}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p.two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{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border-style:solid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;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border-width:medium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;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}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27652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>
              <a:buNone/>
            </a:pPr>
            <a:r>
              <a:rPr lang="tr-TR" altLang="tr-TR" dirty="0"/>
              <a:t>9.4 CSS Box Model</a:t>
            </a:r>
            <a:endParaRPr lang="en-US" altLang="tr-T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CSS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Border </a:t>
            </a:r>
            <a:r>
              <a:rPr kumimoji="0" lang="tr-TR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Color</a:t>
            </a:r>
            <a:endParaRPr kumimoji="0" lang="tr-TR" sz="1800" b="1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border-color property is used to set the color of the border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color can be set by: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name - specify a color name, like "red"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RGB - specify a RGB value, like "</a:t>
            </a: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rgb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(255,0,0)"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Hex - specify a hex value, like "#ff0000"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You can also set the border color to "transparent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".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Note: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 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"border-color" property does not work if it is used alone. Use the "border-style" property to set the borders first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</a:t>
            </a:r>
            <a:r>
              <a:rPr kumimoji="0" lang="tr-TR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p.</a:t>
            </a: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ne</a:t>
            </a: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border-style:solid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border-color:red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;}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p.two</a:t>
            </a: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{</a:t>
            </a: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border-style:solid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          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border-color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:#98bf21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;}</a:t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28676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>
              <a:buNone/>
            </a:pPr>
            <a:r>
              <a:rPr lang="tr-TR" altLang="tr-TR" dirty="0"/>
              <a:t>9.4 CSS Box Model</a:t>
            </a:r>
            <a:endParaRPr lang="en-US" altLang="tr-T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57200" y="1066800"/>
            <a:ext cx="8229600" cy="5181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CSS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Border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 Individual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sides</a:t>
            </a:r>
            <a:endParaRPr kumimoji="0" lang="tr-TR" sz="1800" b="1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 CSS it is possible to specify different borders for different sides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Example</a:t>
            </a: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: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p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{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border-top-style:dotted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;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border-right-style:solid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;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border-bottom-style:dotted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;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border-left-style:solid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;</a:t>
            </a:r>
            <a:b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}</a:t>
            </a: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example above can also be set with a single property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Example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border-style:dotted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 solid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;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29700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>
              <a:buNone/>
            </a:pPr>
            <a:r>
              <a:rPr lang="tr-TR" altLang="tr-TR" dirty="0"/>
              <a:t>9.4 CSS Box Model</a:t>
            </a:r>
            <a:endParaRPr lang="en-US" altLang="tr-T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33400" y="1066800"/>
            <a:ext cx="7924800" cy="5181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border-style property can have from one to four values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6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600" b="1" i="0" u="none" strike="noStrike" kern="0" cap="none" spc="0" normalizeH="0" baseline="0" noProof="0" dirty="0" err="1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border-style:dotted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solid double dashed;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top border is dotted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right border is solid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bottom border is double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left border is dashed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6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border-style:dotted</a:t>
            </a:r>
            <a:r>
              <a:rPr kumimoji="0" 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solid double;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top border is dotted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right and left borders are solid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bottom border is double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6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border-style:dotted</a:t>
            </a:r>
            <a:r>
              <a:rPr kumimoji="0" 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solid;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top and bottom borders are dotted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right and left borders are solid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600" b="1" i="0" u="none" strike="noStrike" kern="0" cap="none" spc="0" normalizeH="0" baseline="0" noProof="0" dirty="0" err="1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border-style:dotted</a:t>
            </a:r>
            <a:r>
              <a:rPr kumimoji="0" 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all four borders are </a:t>
            </a:r>
            <a:r>
              <a:rPr kumimoji="0" lang="en-US" sz="16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dotted</a:t>
            </a:r>
            <a:endParaRPr kumimoji="0" lang="tr-TR" sz="16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endParaRPr kumimoji="0" lang="en-US" sz="6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border-style property is used in the example above. However, it also works with border-width and border-color.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br>
              <a:rPr kumimoji="0" lang="en-US" sz="16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br>
              <a:rPr kumimoji="0" lang="en-US" sz="16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sz="16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0724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>
              <a:buNone/>
            </a:pPr>
            <a:r>
              <a:rPr lang="tr-TR" altLang="tr-TR" dirty="0"/>
              <a:t>9.4 CSS Box Model</a:t>
            </a:r>
            <a:endParaRPr lang="en-US" altLang="tr-T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33400" y="1066800"/>
            <a:ext cx="8001000" cy="5181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CSS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Border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 Shorthand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property</a:t>
            </a:r>
            <a:endParaRPr kumimoji="0" lang="tr-TR" sz="1800" b="1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As you can see from the examples above, there are many properties to consider when dealing with borders.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shorten the code, it is also possible to specify all the border properties in one property. This is called a shorthand property.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shorthand property for the border properties is "border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":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Example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border:5px solid red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;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When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using the border property, the order of the values are: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border-width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border-style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  <a:t>border-color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endParaRPr kumimoji="0" lang="en-US" sz="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It does not matter if one of the values above are missing (although, border-style is required), as long as the rest are in the specified order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1748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>
              <a:buNone/>
            </a:pPr>
            <a:r>
              <a:rPr lang="tr-TR" altLang="tr-TR" dirty="0"/>
              <a:t>9.4 CSS Box Model</a:t>
            </a:r>
            <a:endParaRPr lang="en-US" altLang="tr-TR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533400" y="1066800"/>
            <a:ext cx="8001000" cy="5181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CSS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– </a:t>
            </a:r>
            <a:r>
              <a:rPr kumimoji="0" lang="tr-TR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Outlines</a:t>
            </a:r>
            <a:endParaRPr kumimoji="0" lang="tr-TR" sz="1800" b="1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tr-TR" sz="800" b="1" i="0" u="none" strike="noStrike" kern="0" cap="none" spc="0" normalizeH="0" baseline="0" noProof="0" dirty="0" smtClean="0">
              <a:ln>
                <a:noFill/>
              </a:ln>
              <a:solidFill>
                <a:srgbClr val="33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An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outline is a line that is drawn around elements, outside the border edge, to make the element "stand out".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outline properties specifies the style, color, and width of an outline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utline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</a:t>
            </a:r>
            <a:r>
              <a:rPr kumimoji="0" lang="en-US" sz="1800" b="0" i="0" u="none" strike="noStrike" kern="0" cap="none" spc="0" normalizeH="0" baseline="0" noProof="0" dirty="0" err="1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propert</a:t>
            </a: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y 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is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different from the border property.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outline is not a part of the element's dimensions, therefore the element's width and height properties do not contain the width of the 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outline.</a:t>
            </a: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772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>
              <a:buNone/>
            </a:pPr>
            <a:r>
              <a:rPr lang="tr-TR" altLang="tr-TR" dirty="0"/>
              <a:t>9.4 CSS Box Model</a:t>
            </a:r>
            <a:endParaRPr lang="en-US" altLang="tr-TR" dirty="0"/>
          </a:p>
        </p:txBody>
      </p:sp>
      <p:sp>
        <p:nvSpPr>
          <p:cNvPr id="33795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2286000"/>
          <a:ext cx="7315200" cy="2587625"/>
        </p:xfrm>
        <a:graphic>
          <a:graphicData uri="http://schemas.openxmlformats.org/drawingml/2006/table">
            <a:tbl>
              <a:tblPr/>
              <a:tblGrid>
                <a:gridCol w="1600200"/>
                <a:gridCol w="2805546"/>
                <a:gridCol w="2909454"/>
              </a:tblGrid>
              <a:tr h="329720"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 dirty="0">
                          <a:effectLst/>
                          <a:latin typeface="Verdana" panose="020B0604030504040204"/>
                        </a:rPr>
                        <a:t>Property</a:t>
                      </a:r>
                      <a:endParaRPr lang="en-US" sz="1400" dirty="0">
                        <a:effectLst/>
                        <a:latin typeface="Verdana" panose="020B0604030504040204"/>
                      </a:endParaRPr>
                    </a:p>
                  </a:txBody>
                  <a:tcPr marL="15555" marR="15555" marT="15553" marB="1555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E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Verdana" panose="020B0604030504040204"/>
                        </a:rPr>
                        <a:t>Description</a:t>
                      </a:r>
                      <a:endParaRPr lang="en-US" sz="1400">
                        <a:effectLst/>
                        <a:latin typeface="Verdana" panose="020B0604030504040204"/>
                      </a:endParaRPr>
                    </a:p>
                  </a:txBody>
                  <a:tcPr marL="15555" marR="15555" marT="15553" marB="1555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E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400">
                          <a:effectLst/>
                          <a:latin typeface="Verdana" panose="020B0604030504040204"/>
                        </a:rPr>
                        <a:t>Values</a:t>
                      </a:r>
                      <a:endParaRPr lang="en-US" sz="1400">
                        <a:effectLst/>
                        <a:latin typeface="Verdana" panose="020B0604030504040204"/>
                      </a:endParaRPr>
                    </a:p>
                  </a:txBody>
                  <a:tcPr marL="15555" marR="15555" marT="15553" marB="1555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ECC"/>
                    </a:solidFill>
                  </a:tcPr>
                </a:tc>
              </a:tr>
              <a:tr h="671150">
                <a:tc>
                  <a:txBody>
                    <a:bodyPr/>
                    <a:lstStyle/>
                    <a:p>
                      <a:pPr fontAlgn="t"/>
                      <a:r>
                        <a:rPr lang="en-US" sz="1400" b="1" dirty="0">
                          <a:solidFill>
                            <a:schemeClr val="accent4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Verdana" panose="020B0604030504040204"/>
                        </a:rPr>
                        <a:t>outline</a:t>
                      </a:r>
                      <a:endParaRPr lang="en-US" sz="1400" b="1" dirty="0">
                        <a:solidFill>
                          <a:schemeClr val="accent4">
                            <a:lumMod val="90000"/>
                            <a:lumOff val="10000"/>
                          </a:schemeClr>
                        </a:solidFill>
                        <a:effectLst/>
                        <a:latin typeface="Verdana" panose="020B0604030504040204"/>
                      </a:endParaRPr>
                    </a:p>
                  </a:txBody>
                  <a:tcPr marL="15555" marR="15555" marT="15553" marB="1555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  <a:latin typeface="Verdana" panose="020B0604030504040204"/>
                        </a:rPr>
                        <a:t>Sets all the outline properties in one declaration</a:t>
                      </a:r>
                      <a:endParaRPr lang="en-US" sz="1400" dirty="0">
                        <a:effectLst/>
                        <a:latin typeface="Verdana" panose="020B0604030504040204"/>
                      </a:endParaRPr>
                    </a:p>
                  </a:txBody>
                  <a:tcPr marL="15555" marR="15555" marT="15553" marB="1555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i="1" dirty="0" smtClean="0">
                          <a:effectLst/>
                          <a:latin typeface="Verdana" panose="020B0604030504040204"/>
                        </a:rPr>
                        <a:t>outline-color</a:t>
                      </a:r>
                      <a:r>
                        <a:rPr lang="tr-TR" sz="1400" i="1" dirty="0" smtClean="0">
                          <a:effectLst/>
                          <a:latin typeface="Verdana" panose="020B0604030504040204"/>
                        </a:rPr>
                        <a:t>, </a:t>
                      </a:r>
                      <a:r>
                        <a:rPr lang="en-US" sz="1400" i="1" dirty="0" smtClean="0">
                          <a:effectLst/>
                          <a:latin typeface="Verdana" panose="020B0604030504040204"/>
                        </a:rPr>
                        <a:t>outline-style</a:t>
                      </a:r>
                      <a:br>
                        <a:rPr lang="en-US" sz="1400" i="1" dirty="0">
                          <a:effectLst/>
                          <a:latin typeface="Verdana" panose="020B0604030504040204"/>
                        </a:rPr>
                      </a:br>
                      <a:r>
                        <a:rPr lang="en-US" sz="1400" i="1" dirty="0">
                          <a:effectLst/>
                          <a:latin typeface="Verdana" panose="020B0604030504040204"/>
                        </a:rPr>
                        <a:t>outline-width</a:t>
                      </a:r>
                      <a:br>
                        <a:rPr lang="en-US" sz="1400" i="1" dirty="0">
                          <a:effectLst/>
                          <a:latin typeface="Verdana" panose="020B0604030504040204"/>
                        </a:rPr>
                      </a:br>
                      <a:endParaRPr lang="en-US" sz="1400" dirty="0">
                        <a:effectLst/>
                        <a:latin typeface="Verdana" panose="020B0604030504040204"/>
                      </a:endParaRPr>
                    </a:p>
                  </a:txBody>
                  <a:tcPr marL="15555" marR="15555" marT="15553" marB="1555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802">
                <a:tc>
                  <a:txBody>
                    <a:bodyPr/>
                    <a:lstStyle/>
                    <a:p>
                      <a:pPr fontAlgn="t"/>
                      <a:r>
                        <a:rPr lang="en-US" sz="1400" b="1" dirty="0">
                          <a:solidFill>
                            <a:schemeClr val="accent4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Verdana" panose="020B0604030504040204"/>
                        </a:rPr>
                        <a:t>outline-color</a:t>
                      </a:r>
                      <a:endParaRPr lang="en-US" sz="1400" b="1" dirty="0">
                        <a:solidFill>
                          <a:schemeClr val="accent4">
                            <a:lumMod val="90000"/>
                            <a:lumOff val="10000"/>
                          </a:schemeClr>
                        </a:solidFill>
                        <a:effectLst/>
                        <a:latin typeface="Verdana" panose="020B0604030504040204"/>
                      </a:endParaRPr>
                    </a:p>
                  </a:txBody>
                  <a:tcPr marL="15555" marR="15555" marT="15553" marB="1555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>
                          <a:effectLst/>
                          <a:latin typeface="Verdana" panose="020B0604030504040204"/>
                        </a:rPr>
                        <a:t>Sets the color of an outline</a:t>
                      </a:r>
                      <a:endParaRPr lang="en-US" sz="1400">
                        <a:effectLst/>
                        <a:latin typeface="Verdana" panose="020B0604030504040204"/>
                      </a:endParaRPr>
                    </a:p>
                  </a:txBody>
                  <a:tcPr marL="15555" marR="15555" marT="15553" marB="1555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i="1" dirty="0" err="1" smtClean="0">
                          <a:effectLst/>
                          <a:latin typeface="Verdana" panose="020B0604030504040204"/>
                        </a:rPr>
                        <a:t>color_name</a:t>
                      </a:r>
                      <a:r>
                        <a:rPr lang="tr-TR" sz="1400" i="1" dirty="0" smtClean="0">
                          <a:effectLst/>
                          <a:latin typeface="Verdana" panose="020B0604030504040204"/>
                        </a:rPr>
                        <a:t>, </a:t>
                      </a:r>
                      <a:r>
                        <a:rPr lang="en-US" sz="1400" i="1" dirty="0" err="1" smtClean="0">
                          <a:effectLst/>
                          <a:latin typeface="Verdana" panose="020B0604030504040204"/>
                        </a:rPr>
                        <a:t>hex_number</a:t>
                      </a:r>
                      <a:r>
                        <a:rPr lang="tr-TR" sz="1400" i="1" dirty="0" smtClean="0">
                          <a:effectLst/>
                          <a:latin typeface="Verdana" panose="020B0604030504040204"/>
                        </a:rPr>
                        <a:t>, </a:t>
                      </a:r>
                      <a:r>
                        <a:rPr lang="en-US" sz="1400" i="1" dirty="0" err="1" smtClean="0">
                          <a:effectLst/>
                          <a:latin typeface="Verdana" panose="020B0604030504040204"/>
                        </a:rPr>
                        <a:t>rgb_number</a:t>
                      </a:r>
                      <a:r>
                        <a:rPr lang="tr-TR" sz="1400" i="1" dirty="0" smtClean="0">
                          <a:effectLst/>
                          <a:latin typeface="Verdana" panose="020B0604030504040204"/>
                        </a:rPr>
                        <a:t>, </a:t>
                      </a:r>
                      <a:r>
                        <a:rPr lang="en-US" sz="1400" dirty="0" smtClean="0">
                          <a:effectLst/>
                          <a:latin typeface="Verdana" panose="020B0604030504040204"/>
                        </a:rPr>
                        <a:t>invert</a:t>
                      </a:r>
                      <a:endParaRPr lang="en-US" sz="1400" dirty="0">
                        <a:effectLst/>
                        <a:latin typeface="Verdana" panose="020B0604030504040204"/>
                      </a:endParaRPr>
                    </a:p>
                  </a:txBody>
                  <a:tcPr marL="15555" marR="15555" marT="15553" marB="1555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71150">
                <a:tc>
                  <a:txBody>
                    <a:bodyPr/>
                    <a:lstStyle/>
                    <a:p>
                      <a:pPr fontAlgn="t"/>
                      <a:r>
                        <a:rPr lang="en-US" sz="1400" b="1" dirty="0">
                          <a:solidFill>
                            <a:schemeClr val="accent4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Verdana" panose="020B0604030504040204"/>
                        </a:rPr>
                        <a:t>outline-style</a:t>
                      </a:r>
                      <a:endParaRPr lang="en-US" sz="1400" b="1" dirty="0">
                        <a:solidFill>
                          <a:schemeClr val="accent4">
                            <a:lumMod val="90000"/>
                            <a:lumOff val="10000"/>
                          </a:schemeClr>
                        </a:solidFill>
                        <a:effectLst/>
                        <a:latin typeface="Verdana" panose="020B0604030504040204"/>
                      </a:endParaRPr>
                    </a:p>
                  </a:txBody>
                  <a:tcPr marL="15555" marR="15555" marT="15553" marB="1555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  <a:latin typeface="Verdana" panose="020B0604030504040204"/>
                        </a:rPr>
                        <a:t>Sets the style of an outline</a:t>
                      </a:r>
                      <a:endParaRPr lang="en-US" sz="1400" dirty="0">
                        <a:effectLst/>
                        <a:latin typeface="Verdana" panose="020B0604030504040204"/>
                      </a:endParaRPr>
                    </a:p>
                  </a:txBody>
                  <a:tcPr marL="15555" marR="15555" marT="15553" marB="1555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 smtClean="0">
                          <a:effectLst/>
                          <a:latin typeface="Verdana" panose="020B0604030504040204"/>
                        </a:rPr>
                        <a:t>None</a:t>
                      </a:r>
                      <a:r>
                        <a:rPr lang="tr-TR" sz="1400" dirty="0" smtClean="0">
                          <a:effectLst/>
                          <a:latin typeface="Verdana" panose="020B0604030504040204"/>
                        </a:rPr>
                        <a:t>, </a:t>
                      </a:r>
                      <a:r>
                        <a:rPr lang="en-US" sz="1400" dirty="0" smtClean="0">
                          <a:effectLst/>
                          <a:latin typeface="Verdana" panose="020B0604030504040204"/>
                        </a:rPr>
                        <a:t>dotted</a:t>
                      </a:r>
                      <a:r>
                        <a:rPr lang="tr-TR" sz="1400" dirty="0" smtClean="0">
                          <a:effectLst/>
                          <a:latin typeface="Verdana" panose="020B0604030504040204"/>
                        </a:rPr>
                        <a:t>, </a:t>
                      </a:r>
                      <a:r>
                        <a:rPr lang="en-US" sz="1400" dirty="0" smtClean="0">
                          <a:effectLst/>
                          <a:latin typeface="Verdana" panose="020B0604030504040204"/>
                        </a:rPr>
                        <a:t>dashed</a:t>
                      </a:r>
                      <a:r>
                        <a:rPr lang="tr-TR" sz="1400" dirty="0" smtClean="0">
                          <a:effectLst/>
                          <a:latin typeface="Verdana" panose="020B0604030504040204"/>
                        </a:rPr>
                        <a:t>, </a:t>
                      </a:r>
                      <a:r>
                        <a:rPr lang="en-US" sz="1400" dirty="0" smtClean="0">
                          <a:effectLst/>
                          <a:latin typeface="Verdana" panose="020B0604030504040204"/>
                        </a:rPr>
                        <a:t>solid</a:t>
                      </a:r>
                      <a:r>
                        <a:rPr lang="tr-TR" sz="1400" dirty="0" smtClean="0">
                          <a:effectLst/>
                          <a:latin typeface="Verdana" panose="020B0604030504040204"/>
                        </a:rPr>
                        <a:t>, </a:t>
                      </a:r>
                      <a:r>
                        <a:rPr lang="en-US" sz="1400" dirty="0" smtClean="0">
                          <a:effectLst/>
                          <a:latin typeface="Verdana" panose="020B0604030504040204"/>
                        </a:rPr>
                        <a:t>double</a:t>
                      </a:r>
                      <a:r>
                        <a:rPr lang="tr-TR" sz="1400" dirty="0" smtClean="0">
                          <a:effectLst/>
                          <a:latin typeface="Verdana" panose="020B0604030504040204"/>
                        </a:rPr>
                        <a:t>, </a:t>
                      </a:r>
                      <a:r>
                        <a:rPr lang="en-US" sz="1400" dirty="0" smtClean="0">
                          <a:effectLst/>
                          <a:latin typeface="Verdana" panose="020B0604030504040204"/>
                        </a:rPr>
                        <a:t>groove</a:t>
                      </a:r>
                      <a:r>
                        <a:rPr lang="tr-TR" sz="1400" dirty="0" smtClean="0">
                          <a:effectLst/>
                          <a:latin typeface="Verdana" panose="020B0604030504040204"/>
                        </a:rPr>
                        <a:t>, </a:t>
                      </a:r>
                      <a:r>
                        <a:rPr lang="en-US" sz="1400" dirty="0" smtClean="0">
                          <a:effectLst/>
                          <a:latin typeface="Verdana" panose="020B0604030504040204"/>
                        </a:rPr>
                        <a:t>ridge</a:t>
                      </a:r>
                      <a:r>
                        <a:rPr lang="tr-TR" sz="1400" dirty="0" smtClean="0">
                          <a:effectLst/>
                          <a:latin typeface="Verdana" panose="020B0604030504040204"/>
                        </a:rPr>
                        <a:t>, </a:t>
                      </a:r>
                      <a:r>
                        <a:rPr lang="en-US" sz="1400" dirty="0" smtClean="0">
                          <a:effectLst/>
                          <a:latin typeface="Verdana" panose="020B0604030504040204"/>
                        </a:rPr>
                        <a:t>inset</a:t>
                      </a:r>
                      <a:r>
                        <a:rPr lang="tr-TR" sz="1400" dirty="0" smtClean="0">
                          <a:effectLst/>
                          <a:latin typeface="Verdana" panose="020B0604030504040204"/>
                        </a:rPr>
                        <a:t>, </a:t>
                      </a:r>
                      <a:r>
                        <a:rPr lang="en-US" sz="1400" dirty="0" smtClean="0">
                          <a:effectLst/>
                          <a:latin typeface="Verdana" panose="020B0604030504040204"/>
                        </a:rPr>
                        <a:t>outset</a:t>
                      </a:r>
                      <a:r>
                        <a:rPr lang="tr-TR" sz="1400" dirty="0" smtClean="0">
                          <a:effectLst/>
                          <a:latin typeface="Verdana" panose="020B0604030504040204"/>
                        </a:rPr>
                        <a:t>, </a:t>
                      </a:r>
                      <a:r>
                        <a:rPr lang="en-US" sz="1400" dirty="0" smtClean="0">
                          <a:effectLst/>
                          <a:latin typeface="Verdana" panose="020B0604030504040204"/>
                        </a:rPr>
                        <a:t>inherit</a:t>
                      </a:r>
                      <a:endParaRPr lang="en-US" sz="1400" dirty="0">
                        <a:effectLst/>
                        <a:latin typeface="Verdana" panose="020B0604030504040204"/>
                      </a:endParaRPr>
                    </a:p>
                  </a:txBody>
                  <a:tcPr marL="15555" marR="15555" marT="15553" marB="1555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802">
                <a:tc>
                  <a:txBody>
                    <a:bodyPr/>
                    <a:lstStyle/>
                    <a:p>
                      <a:pPr fontAlgn="t"/>
                      <a:r>
                        <a:rPr lang="en-US" sz="1400" b="1" dirty="0">
                          <a:solidFill>
                            <a:schemeClr val="accent4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Verdana" panose="020B0604030504040204"/>
                        </a:rPr>
                        <a:t>outline-width</a:t>
                      </a:r>
                      <a:endParaRPr lang="en-US" sz="1400" b="1" dirty="0">
                        <a:solidFill>
                          <a:schemeClr val="accent4">
                            <a:lumMod val="90000"/>
                            <a:lumOff val="10000"/>
                          </a:schemeClr>
                        </a:solidFill>
                        <a:effectLst/>
                        <a:latin typeface="Verdana" panose="020B0604030504040204"/>
                      </a:endParaRPr>
                    </a:p>
                  </a:txBody>
                  <a:tcPr marL="15555" marR="15555" marT="15553" marB="1555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>
                          <a:effectLst/>
                          <a:latin typeface="Verdana" panose="020B0604030504040204"/>
                        </a:rPr>
                        <a:t>Sets the width of an outline</a:t>
                      </a:r>
                      <a:endParaRPr lang="en-US" sz="1400" dirty="0">
                        <a:effectLst/>
                        <a:latin typeface="Verdana" panose="020B0604030504040204"/>
                      </a:endParaRPr>
                    </a:p>
                  </a:txBody>
                  <a:tcPr marL="15555" marR="15555" marT="15553" marB="1555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400" dirty="0" smtClean="0">
                          <a:effectLst/>
                          <a:latin typeface="Verdana" panose="020B0604030504040204"/>
                        </a:rPr>
                        <a:t>Thin</a:t>
                      </a:r>
                      <a:r>
                        <a:rPr lang="tr-TR" sz="1400" dirty="0" smtClean="0">
                          <a:effectLst/>
                          <a:latin typeface="Verdana" panose="020B0604030504040204"/>
                        </a:rPr>
                        <a:t>, </a:t>
                      </a:r>
                      <a:r>
                        <a:rPr lang="en-US" sz="1400" dirty="0" smtClean="0">
                          <a:effectLst/>
                          <a:latin typeface="Verdana" panose="020B0604030504040204"/>
                        </a:rPr>
                        <a:t>medium</a:t>
                      </a:r>
                      <a:r>
                        <a:rPr lang="tr-TR" sz="1400" dirty="0" smtClean="0">
                          <a:effectLst/>
                          <a:latin typeface="Verdana" panose="020B0604030504040204"/>
                        </a:rPr>
                        <a:t>,</a:t>
                      </a:r>
                      <a:r>
                        <a:rPr lang="tr-TR" sz="1400" baseline="0" dirty="0" smtClean="0">
                          <a:effectLst/>
                          <a:latin typeface="Verdana" panose="020B0604030504040204"/>
                        </a:rPr>
                        <a:t> </a:t>
                      </a:r>
                      <a:r>
                        <a:rPr lang="en-US" sz="1400" dirty="0" smtClean="0">
                          <a:effectLst/>
                          <a:latin typeface="Verdana" panose="020B0604030504040204"/>
                        </a:rPr>
                        <a:t>thick</a:t>
                      </a:r>
                      <a:r>
                        <a:rPr lang="tr-TR" sz="1400" dirty="0" smtClean="0">
                          <a:effectLst/>
                          <a:latin typeface="Verdana" panose="020B0604030504040204"/>
                        </a:rPr>
                        <a:t>, </a:t>
                      </a:r>
                      <a:r>
                        <a:rPr lang="en-US" sz="1400" i="1" dirty="0" smtClean="0">
                          <a:effectLst/>
                          <a:latin typeface="Verdana" panose="020B0604030504040204"/>
                        </a:rPr>
                        <a:t>length</a:t>
                      </a:r>
                      <a:r>
                        <a:rPr lang="tr-TR" sz="1400" i="1" dirty="0" smtClean="0">
                          <a:effectLst/>
                          <a:latin typeface="Verdana" panose="020B0604030504040204"/>
                        </a:rPr>
                        <a:t>, </a:t>
                      </a:r>
                      <a:r>
                        <a:rPr lang="en-US" sz="1400" dirty="0" smtClean="0">
                          <a:effectLst/>
                          <a:latin typeface="Verdana" panose="020B0604030504040204"/>
                        </a:rPr>
                        <a:t>inherit</a:t>
                      </a:r>
                      <a:endParaRPr lang="en-US" sz="1400" dirty="0">
                        <a:effectLst/>
                        <a:latin typeface="Verdana" panose="020B0604030504040204"/>
                      </a:endParaRPr>
                    </a:p>
                  </a:txBody>
                  <a:tcPr marL="15555" marR="15555" marT="15553" marB="1555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2799" name="Rectangle 1"/>
          <p:cNvSpPr>
            <a:spLocks noChangeArrowheads="1"/>
          </p:cNvSpPr>
          <p:nvPr/>
        </p:nvSpPr>
        <p:spPr bwMode="auto">
          <a:xfrm>
            <a:off x="1143000" y="1447800"/>
            <a:ext cx="37338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88872" bIns="88872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tr-TR" sz="1800" b="1" i="0" u="none" strike="noStrike" kern="1200" cap="none" spc="0" normalizeH="0" baseline="0" noProof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Arial" panose="020B0604020202020204" pitchFamily="34" charset="0"/>
              </a:rPr>
              <a:t>All CSS Outline Properties</a:t>
            </a:r>
            <a:endParaRPr kumimoji="0" lang="en-US" altLang="tr-TR" sz="1800" b="1" i="0" u="none" strike="noStrike" kern="1200" cap="none" spc="0" normalizeH="0" baseline="0" noProof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/>
              <a:uLnTx/>
              <a:uFillTx/>
              <a:latin typeface="Verdana" panose="020B060403050404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>
              <a:buNone/>
            </a:pPr>
            <a:r>
              <a:rPr lang="tr-TR" altLang="tr-TR" dirty="0"/>
              <a:t>9.4 CSS Box Model</a:t>
            </a:r>
            <a:endParaRPr lang="en-US" altLang="tr-TR" dirty="0"/>
          </a:p>
        </p:txBody>
      </p:sp>
      <p:graphicFrame>
        <p:nvGraphicFramePr>
          <p:cNvPr id="15" name="Content Placeholder 14"/>
          <p:cNvGraphicFramePr>
            <a:graphicFrameLocks noGrp="1"/>
          </p:cNvGraphicFramePr>
          <p:nvPr>
            <p:ph idx="1"/>
          </p:nvPr>
        </p:nvGraphicFramePr>
        <p:xfrm>
          <a:off x="914400" y="4572000"/>
          <a:ext cx="6324600" cy="1730375"/>
        </p:xfrm>
        <a:graphic>
          <a:graphicData uri="http://schemas.openxmlformats.org/drawingml/2006/table">
            <a:tbl>
              <a:tblPr/>
              <a:tblGrid>
                <a:gridCol w="1145894"/>
                <a:gridCol w="5178706"/>
              </a:tblGrid>
              <a:tr h="283381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  <a:latin typeface="Verdana" panose="020B0604030504040204"/>
                        </a:rPr>
                        <a:t>Value</a:t>
                      </a:r>
                      <a:endParaRPr lang="en-US" sz="1600" dirty="0">
                        <a:effectLst/>
                        <a:latin typeface="Verdana" panose="020B0604030504040204"/>
                      </a:endParaRPr>
                    </a:p>
                  </a:txBody>
                  <a:tcPr marL="27045" marR="27045" marT="19776" marB="19776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E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  <a:latin typeface="Verdana" panose="020B0604030504040204"/>
                        </a:rPr>
                        <a:t>Description</a:t>
                      </a:r>
                      <a:endParaRPr lang="en-US" sz="1600" dirty="0">
                        <a:effectLst/>
                        <a:latin typeface="Verdana" panose="020B0604030504040204"/>
                      </a:endParaRPr>
                    </a:p>
                  </a:txBody>
                  <a:tcPr marL="27045" marR="27045" marT="19776" marB="19776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ECC"/>
                    </a:solidFill>
                  </a:tcPr>
                </a:tc>
              </a:tr>
              <a:tr h="608505"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  <a:latin typeface="Verdana" panose="020B0604030504040204"/>
                        </a:rPr>
                        <a:t>auto</a:t>
                      </a:r>
                      <a:endParaRPr lang="en-US" sz="1600" dirty="0">
                        <a:effectLst/>
                        <a:latin typeface="Verdana" panose="020B0604030504040204"/>
                      </a:endParaRPr>
                    </a:p>
                  </a:txBody>
                  <a:tcPr marL="27045" marR="27045" marT="19776" marB="19776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  <a:latin typeface="Verdana" panose="020B0604030504040204"/>
                        </a:rPr>
                        <a:t>The browser sets the margin.</a:t>
                      </a:r>
                      <a:br>
                        <a:rPr lang="en-US" sz="1600" dirty="0">
                          <a:effectLst/>
                          <a:latin typeface="Verdana" panose="020B0604030504040204"/>
                        </a:rPr>
                      </a:br>
                      <a:r>
                        <a:rPr lang="en-US" sz="1600" dirty="0">
                          <a:effectLst/>
                          <a:latin typeface="Verdana" panose="020B0604030504040204"/>
                        </a:rPr>
                        <a:t>The result of this is </a:t>
                      </a:r>
                      <a:r>
                        <a:rPr lang="en-US" sz="1600" dirty="0" err="1">
                          <a:effectLst/>
                          <a:latin typeface="Verdana" panose="020B0604030504040204"/>
                        </a:rPr>
                        <a:t>dependant</a:t>
                      </a:r>
                      <a:r>
                        <a:rPr lang="en-US" sz="1600" dirty="0">
                          <a:effectLst/>
                          <a:latin typeface="Verdana" panose="020B0604030504040204"/>
                        </a:rPr>
                        <a:t> of the browser</a:t>
                      </a:r>
                      <a:endParaRPr lang="en-US" sz="1600" dirty="0">
                        <a:effectLst/>
                        <a:latin typeface="Verdana" panose="020B0604030504040204"/>
                      </a:endParaRPr>
                    </a:p>
                  </a:txBody>
                  <a:tcPr marL="27045" marR="27045" marT="19776" marB="19776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244">
                <a:tc>
                  <a:txBody>
                    <a:bodyPr/>
                    <a:lstStyle/>
                    <a:p>
                      <a:pPr fontAlgn="t"/>
                      <a:r>
                        <a:rPr lang="en-US" sz="1600" i="1">
                          <a:effectLst/>
                          <a:latin typeface="Verdana" panose="020B0604030504040204"/>
                        </a:rPr>
                        <a:t>length</a:t>
                      </a:r>
                      <a:endParaRPr lang="en-US" sz="1600">
                        <a:effectLst/>
                        <a:latin typeface="Verdana" panose="020B0604030504040204"/>
                      </a:endParaRPr>
                    </a:p>
                  </a:txBody>
                  <a:tcPr marL="27045" marR="27045" marT="19776" marB="19776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  <a:latin typeface="Verdana" panose="020B0604030504040204"/>
                        </a:rPr>
                        <a:t>Defines a fixed margin (in pixels, </a:t>
                      </a:r>
                      <a:r>
                        <a:rPr lang="en-US" sz="1600" dirty="0" err="1">
                          <a:effectLst/>
                          <a:latin typeface="Verdana" panose="020B0604030504040204"/>
                        </a:rPr>
                        <a:t>pt</a:t>
                      </a:r>
                      <a:r>
                        <a:rPr lang="en-US" sz="1600" dirty="0">
                          <a:effectLst/>
                          <a:latin typeface="Verdana" panose="020B0604030504040204"/>
                        </a:rPr>
                        <a:t>, </a:t>
                      </a:r>
                      <a:r>
                        <a:rPr lang="en-US" sz="1600" dirty="0" err="1">
                          <a:effectLst/>
                          <a:latin typeface="Verdana" panose="020B0604030504040204"/>
                        </a:rPr>
                        <a:t>em</a:t>
                      </a:r>
                      <a:r>
                        <a:rPr lang="en-US" sz="1600" dirty="0">
                          <a:effectLst/>
                          <a:latin typeface="Verdana" panose="020B0604030504040204"/>
                        </a:rPr>
                        <a:t>, etc.)</a:t>
                      </a:r>
                      <a:endParaRPr lang="en-US" sz="1600" dirty="0">
                        <a:effectLst/>
                        <a:latin typeface="Verdana" panose="020B0604030504040204"/>
                      </a:endParaRPr>
                    </a:p>
                  </a:txBody>
                  <a:tcPr marL="27045" marR="27045" marT="19776" marB="19776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9244">
                <a:tc>
                  <a:txBody>
                    <a:bodyPr/>
                    <a:lstStyle/>
                    <a:p>
                      <a:pPr fontAlgn="t"/>
                      <a:r>
                        <a:rPr lang="en-US" sz="1600" i="1">
                          <a:effectLst/>
                          <a:latin typeface="Verdana" panose="020B0604030504040204"/>
                        </a:rPr>
                        <a:t>%</a:t>
                      </a:r>
                      <a:endParaRPr lang="en-US" sz="1600">
                        <a:effectLst/>
                        <a:latin typeface="Verdana" panose="020B0604030504040204"/>
                      </a:endParaRPr>
                    </a:p>
                  </a:txBody>
                  <a:tcPr marL="27045" marR="27045" marT="19776" marB="19776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  <a:latin typeface="Verdana" panose="020B0604030504040204"/>
                        </a:rPr>
                        <a:t>Defines a margin in % of the containing element</a:t>
                      </a:r>
                      <a:endParaRPr lang="en-US" sz="1600" dirty="0">
                        <a:effectLst/>
                        <a:latin typeface="Verdana" panose="020B0604030504040204"/>
                      </a:endParaRPr>
                    </a:p>
                  </a:txBody>
                  <a:tcPr marL="27045" marR="27045" marT="19776" marB="19776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836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09600" y="1066800"/>
            <a:ext cx="8382000" cy="3540125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tr-TR" b="1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20204" pitchFamily="34" charset="0"/>
              </a:rPr>
              <a:t>CSS </a:t>
            </a:r>
            <a:r>
              <a:rPr kumimoji="0" lang="en-US" b="1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20204" pitchFamily="34" charset="0"/>
              </a:rPr>
              <a:t>Margin</a:t>
            </a:r>
            <a:r>
              <a:rPr kumimoji="0" lang="tr-TR" b="1" kern="1200" cap="none" spc="0" normalizeH="0" baseline="0" noProof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+mn-ea"/>
                <a:cs typeface="Arial" panose="020B0604020202020204" pitchFamily="34" charset="0"/>
              </a:rPr>
              <a:t>:</a:t>
            </a:r>
            <a:endParaRPr kumimoji="0" lang="tr-TR" b="1" kern="1200" cap="none" spc="0" normalizeH="0" baseline="0" noProof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+mn-ea"/>
              <a:cs typeface="Arial" panose="020B0604020202020204" pitchFamily="34" charset="0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endParaRPr kumimoji="0" lang="tr-TR" sz="800" b="1" kern="1200" cap="none" spc="0" normalizeH="0" baseline="0" noProof="0" dirty="0">
              <a:latin typeface="+mn-lt"/>
              <a:ea typeface="+mn-ea"/>
              <a:cs typeface="Arial" panose="020B0604020202020204" pitchFamily="34" charset="0"/>
            </a:endParaRPr>
          </a:p>
          <a:p>
            <a:pPr marL="285750" marR="0" indent="-285750" defTabSz="914400" eaLnBrk="1" hangingPunct="1"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kern="1200" cap="none" spc="0" normalizeH="0" baseline="0" noProof="0" dirty="0">
                <a:latin typeface="+mn-lt"/>
                <a:ea typeface="+mn-ea"/>
                <a:cs typeface="Arial" panose="020B0604020202020204" pitchFamily="34" charset="0"/>
              </a:rPr>
              <a:t>The CSS margin properties define the space around elements.</a:t>
            </a:r>
            <a:endParaRPr kumimoji="0" lang="en-US" b="1" kern="1200" cap="none" spc="0" normalizeH="0" baseline="0" noProof="0" dirty="0">
              <a:latin typeface="+mn-lt"/>
              <a:ea typeface="+mn-ea"/>
              <a:cs typeface="Arial" panose="020B0604020202020204" pitchFamily="34" charset="0"/>
            </a:endParaRPr>
          </a:p>
          <a:p>
            <a:pPr marL="285750" marR="0" indent="-285750" defTabSz="914400" eaLnBrk="1" hangingPunct="1"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kern="1200" cap="none" spc="0" normalizeH="0" baseline="0" noProof="0" dirty="0">
                <a:latin typeface="+mn-lt"/>
                <a:ea typeface="+mn-ea"/>
                <a:cs typeface="Arial" panose="020B0604020202020204" pitchFamily="34" charset="0"/>
              </a:rPr>
              <a:t>The margin clears an area around an element (outside the border). </a:t>
            </a:r>
            <a:endParaRPr kumimoji="0" lang="tr-TR" kern="1200" cap="none" spc="0" normalizeH="0" baseline="0" noProof="0" dirty="0">
              <a:latin typeface="+mn-lt"/>
              <a:ea typeface="+mn-ea"/>
              <a:cs typeface="Arial" panose="020B0604020202020204" pitchFamily="34" charset="0"/>
            </a:endParaRPr>
          </a:p>
          <a:p>
            <a:pPr marL="285750" marR="0" indent="-285750" defTabSz="914400" eaLnBrk="1" hangingPunct="1"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kern="1200" cap="none" spc="0" normalizeH="0" baseline="0" noProof="0" dirty="0">
                <a:latin typeface="+mn-lt"/>
                <a:ea typeface="+mn-ea"/>
                <a:cs typeface="Arial" panose="020B0604020202020204" pitchFamily="34" charset="0"/>
              </a:rPr>
              <a:t>The margin does not have a background color, and is completely transparent.</a:t>
            </a:r>
            <a:endParaRPr kumimoji="0" lang="tr-TR" kern="1200" cap="none" spc="0" normalizeH="0" baseline="0" noProof="0" dirty="0">
              <a:latin typeface="+mn-lt"/>
              <a:ea typeface="+mn-ea"/>
              <a:cs typeface="Arial" panose="020B0604020202020204" pitchFamily="34" charset="0"/>
            </a:endParaRPr>
          </a:p>
          <a:p>
            <a:pPr marL="285750" marR="0" indent="-285750" defTabSz="914400" eaLnBrk="1" hangingPunct="1"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kern="1200" cap="none" spc="0" normalizeH="0" baseline="0" noProof="0" dirty="0">
                <a:latin typeface="+mn-lt"/>
                <a:ea typeface="+mn-ea"/>
                <a:cs typeface="Arial" panose="020B0604020202020204" pitchFamily="34" charset="0"/>
              </a:rPr>
              <a:t>The top, right, bottom, and left margin can be changed independently using separate properties. </a:t>
            </a:r>
            <a:endParaRPr kumimoji="0" lang="tr-TR" kern="1200" cap="none" spc="0" normalizeH="0" baseline="0" noProof="0" dirty="0">
              <a:latin typeface="+mn-lt"/>
              <a:ea typeface="+mn-ea"/>
              <a:cs typeface="Arial" panose="020B0604020202020204" pitchFamily="34" charset="0"/>
            </a:endParaRPr>
          </a:p>
          <a:p>
            <a:pPr marL="285750" marR="0" indent="-285750" defTabSz="914400" eaLnBrk="1" hangingPunct="1"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kern="1200" cap="none" spc="0" normalizeH="0" baseline="0" noProof="0" dirty="0">
                <a:latin typeface="+mn-lt"/>
                <a:ea typeface="+mn-ea"/>
                <a:cs typeface="Arial" panose="020B0604020202020204" pitchFamily="34" charset="0"/>
              </a:rPr>
              <a:t>A shorthand margin property can also be used, to change all margins at once.</a:t>
            </a:r>
            <a:endParaRPr kumimoji="0" lang="tr-TR" kern="1200" cap="none" spc="0" normalizeH="0" baseline="0" noProof="0" dirty="0">
              <a:latin typeface="+mn-lt"/>
              <a:ea typeface="+mn-ea"/>
              <a:cs typeface="Arial" panose="020B0604020202020204" pitchFamily="34" charset="0"/>
            </a:endParaRPr>
          </a:p>
          <a:p>
            <a:pPr marL="285750" marR="0" indent="-285750" defTabSz="914400" eaLnBrk="1" hangingPunct="1">
              <a:buClrTx/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kern="1200" cap="none" spc="0" normalizeH="0" baseline="0" noProof="0" dirty="0">
                <a:latin typeface="+mn-lt"/>
                <a:ea typeface="+mn-ea"/>
                <a:cs typeface="Arial" panose="020B0604020202020204" pitchFamily="34" charset="0"/>
              </a:rPr>
              <a:t>It is possible to use negative values, to overlap content.</a:t>
            </a:r>
            <a:endParaRPr kumimoji="0" lang="tr-TR" kern="1200" cap="none" spc="0" normalizeH="0" baseline="0" noProof="0" dirty="0">
              <a:latin typeface="+mn-lt"/>
              <a:ea typeface="+mn-ea"/>
              <a:cs typeface="Arial" panose="020B0604020202020204" pitchFamily="34" charset="0"/>
            </a:endParaRPr>
          </a:p>
          <a:p>
            <a:pPr marL="285750" marR="0" indent="-285750" defTabSz="914400" eaLnBrk="1" hangingPunct="1">
              <a:buClrTx/>
              <a:buSzTx/>
              <a:buFont typeface="Wingdings" panose="05000000000000000000" pitchFamily="2" charset="2"/>
              <a:buChar char="v"/>
              <a:defRPr/>
            </a:pPr>
            <a:endParaRPr kumimoji="0" lang="en-US" kern="1200" cap="none" spc="0" normalizeH="0" baseline="0" noProof="0" dirty="0">
              <a:latin typeface="+mn-lt"/>
              <a:ea typeface="+mn-ea"/>
              <a:cs typeface="Arial" panose="020B0604020202020204" pitchFamily="34" charset="0"/>
            </a:endParaRPr>
          </a:p>
          <a:p>
            <a:pPr marR="0" defTabSz="914400" eaLnBrk="1" hangingPunct="1">
              <a:buClrTx/>
              <a:buSzTx/>
              <a:buFontTx/>
              <a:buNone/>
              <a:defRPr/>
            </a:pPr>
            <a:r>
              <a:rPr kumimoji="0" lang="tr-TR" kern="1200" cap="none" spc="0" normalizeH="0" baseline="0" noProof="0" dirty="0">
                <a:latin typeface="+mn-lt"/>
                <a:ea typeface="+mn-ea"/>
                <a:cs typeface="Arial" panose="020B0604020202020204" pitchFamily="34" charset="0"/>
              </a:rPr>
              <a:t>	</a:t>
            </a:r>
            <a:r>
              <a:rPr kumimoji="0" lang="en-US" b="1" kern="1200" cap="none" spc="0" normalizeH="0" baseline="0" noProof="0" dirty="0">
                <a:latin typeface="+mn-lt"/>
                <a:ea typeface="+mn-ea"/>
                <a:cs typeface="Arial" panose="020B0604020202020204" pitchFamily="34" charset="0"/>
              </a:rPr>
              <a:t>Possible </a:t>
            </a:r>
            <a:r>
              <a:rPr kumimoji="0" lang="en-US" b="1" kern="1200" cap="none" spc="0" normalizeH="0" baseline="0" noProof="0" dirty="0" err="1">
                <a:latin typeface="+mn-lt"/>
                <a:ea typeface="+mn-ea"/>
                <a:cs typeface="Arial" panose="020B0604020202020204" pitchFamily="34" charset="0"/>
              </a:rPr>
              <a:t>Valu</a:t>
            </a:r>
            <a:r>
              <a:rPr kumimoji="0" lang="tr-TR" b="1" kern="1200" cap="none" spc="0" normalizeH="0" baseline="0" noProof="0" dirty="0">
                <a:latin typeface="+mn-lt"/>
                <a:ea typeface="+mn-ea"/>
                <a:cs typeface="Arial" panose="020B0604020202020204" pitchFamily="34" charset="0"/>
              </a:rPr>
              <a:t>es</a:t>
            </a:r>
            <a:endParaRPr kumimoji="0" lang="tr-TR" b="1" kern="1200" cap="none" spc="0" normalizeH="0" baseline="0" noProof="0" dirty="0">
              <a:latin typeface="+mn-lt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>
              <a:buNone/>
            </a:pPr>
            <a:r>
              <a:rPr lang="tr-TR" altLang="tr-TR" dirty="0"/>
              <a:t>9.4 CSS Box Model</a:t>
            </a:r>
            <a:endParaRPr lang="en-US" altLang="tr-TR" dirty="0"/>
          </a:p>
        </p:txBody>
      </p:sp>
      <p:sp>
        <p:nvSpPr>
          <p:cNvPr id="35843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5181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Margin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 Individual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sides</a:t>
            </a:r>
            <a:endParaRPr kumimoji="0" lang="tr-TR" sz="1800" b="1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 CSS, it is possible to specify different margins for different sides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: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6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Example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margin-top:100px;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margin-bottom:100px;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margin-right:50px;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margin-left:50px;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b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Margin - Shorthand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property</a:t>
            </a:r>
            <a:endParaRPr kumimoji="0" lang="tr-TR" sz="1800" b="1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shorten the code, it is possible to specify all the margin properties in one property. This is called a shorthand property.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shorthand property for all the margin properties is "margin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":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6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Example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margin:100px 50px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;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anose="020B0604020202020204" pitchFamily="34" charset="0"/>
              </a:rPr>
            </a:b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anose="020B0604020202020204" pitchFamily="34" charset="0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>
              <a:buNone/>
            </a:pPr>
            <a:r>
              <a:rPr lang="tr-TR" altLang="tr-TR" dirty="0"/>
              <a:t>9.4 CSS Box Model</a:t>
            </a:r>
            <a:endParaRPr lang="en-US" altLang="tr-TR" dirty="0"/>
          </a:p>
        </p:txBody>
      </p:sp>
      <p:sp>
        <p:nvSpPr>
          <p:cNvPr id="36867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1162050"/>
            <a:ext cx="8229600" cy="508635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margin property can have from one to four 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values</a:t>
            </a: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6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margin:25px 50px 75px 100px;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top margin is 25px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right margin is 50px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bottom margin is 75px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left margin is 100px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margin:25px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50px 75px;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top margin is 25px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right and left margins are 50px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bottom margin is 75px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margin:25px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50px;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top and bottom margins are 25px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right and left margins are 50px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margin:25px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all four margins are 25px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>
              <a:buNone/>
            </a:pPr>
            <a:r>
              <a:rPr lang="tr-TR" altLang="tr-TR" dirty="0"/>
              <a:t>9.4 CSS Box Model</a:t>
            </a:r>
            <a:endParaRPr lang="en-US" altLang="tr-TR" dirty="0"/>
          </a:p>
        </p:txBody>
      </p:sp>
      <p:sp>
        <p:nvSpPr>
          <p:cNvPr id="37891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95338" y="2232025"/>
          <a:ext cx="6977063" cy="2263775"/>
        </p:xfrm>
        <a:graphic>
          <a:graphicData uri="http://schemas.openxmlformats.org/drawingml/2006/table">
            <a:tbl>
              <a:tblPr/>
              <a:tblGrid>
                <a:gridCol w="2252663"/>
                <a:gridCol w="4724399"/>
              </a:tblGrid>
              <a:tr h="33156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  <a:latin typeface="Verdana" panose="020B0604030504040204"/>
                        </a:rPr>
                        <a:t>Property</a:t>
                      </a:r>
                      <a:endParaRPr lang="en-US" sz="1800" dirty="0"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E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  <a:latin typeface="Verdana" panose="020B0604030504040204"/>
                        </a:rPr>
                        <a:t>Description</a:t>
                      </a:r>
                      <a:endParaRPr lang="en-US" sz="1800"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ECC"/>
                    </a:solidFill>
                  </a:tcPr>
                </a:tc>
              </a:tr>
              <a:tr h="605960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>
                          <a:solidFill>
                            <a:schemeClr val="accent4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Verdana" panose="020B0604030504040204"/>
                        </a:rPr>
                        <a:t>margin</a:t>
                      </a:r>
                      <a:endParaRPr lang="en-US" sz="1800" b="1" dirty="0">
                        <a:solidFill>
                          <a:schemeClr val="accent4">
                            <a:lumMod val="90000"/>
                            <a:lumOff val="10000"/>
                          </a:schemeClr>
                        </a:solidFill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  <a:latin typeface="Verdana" panose="020B0604030504040204"/>
                        </a:rPr>
                        <a:t>A shorthand property for setting the margin properties in one declaration</a:t>
                      </a:r>
                      <a:endParaRPr lang="en-US" sz="1800"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563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>
                          <a:solidFill>
                            <a:schemeClr val="accent4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Verdana" panose="020B0604030504040204"/>
                        </a:rPr>
                        <a:t>margin-bottom</a:t>
                      </a:r>
                      <a:endParaRPr lang="en-US" sz="1800" b="1" dirty="0">
                        <a:solidFill>
                          <a:schemeClr val="accent4">
                            <a:lumMod val="90000"/>
                            <a:lumOff val="10000"/>
                          </a:schemeClr>
                        </a:solidFill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  <a:latin typeface="Verdana" panose="020B0604030504040204"/>
                        </a:rPr>
                        <a:t>Sets the bottom margin of an element</a:t>
                      </a:r>
                      <a:endParaRPr lang="en-US" sz="1800"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563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>
                          <a:solidFill>
                            <a:schemeClr val="accent4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Verdana" panose="020B0604030504040204"/>
                        </a:rPr>
                        <a:t>margin-left</a:t>
                      </a:r>
                      <a:endParaRPr lang="en-US" sz="1800" b="1" dirty="0">
                        <a:solidFill>
                          <a:schemeClr val="accent4">
                            <a:lumMod val="90000"/>
                            <a:lumOff val="10000"/>
                          </a:schemeClr>
                        </a:solidFill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  <a:latin typeface="Verdana" panose="020B0604030504040204"/>
                        </a:rPr>
                        <a:t>Sets the left margin of an element</a:t>
                      </a:r>
                      <a:endParaRPr lang="en-US" sz="1800"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563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>
                          <a:solidFill>
                            <a:schemeClr val="accent4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Verdana" panose="020B0604030504040204"/>
                        </a:rPr>
                        <a:t>margin-right</a:t>
                      </a:r>
                      <a:endParaRPr lang="en-US" sz="1800" b="1" dirty="0">
                        <a:solidFill>
                          <a:schemeClr val="accent4">
                            <a:lumMod val="90000"/>
                            <a:lumOff val="10000"/>
                          </a:schemeClr>
                        </a:solidFill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  <a:latin typeface="Verdana" panose="020B0604030504040204"/>
                        </a:rPr>
                        <a:t>Sets the right margin of an element</a:t>
                      </a:r>
                      <a:endParaRPr lang="en-US" sz="1800"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563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>
                          <a:solidFill>
                            <a:schemeClr val="accent4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Verdana" panose="020B0604030504040204"/>
                        </a:rPr>
                        <a:t>margin-top</a:t>
                      </a:r>
                      <a:endParaRPr lang="en-US" sz="1800" b="1" dirty="0">
                        <a:solidFill>
                          <a:schemeClr val="accent4">
                            <a:lumMod val="90000"/>
                            <a:lumOff val="10000"/>
                          </a:schemeClr>
                        </a:solidFill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  <a:latin typeface="Verdana" panose="020B0604030504040204"/>
                        </a:rPr>
                        <a:t>Sets the top margin of an element</a:t>
                      </a:r>
                      <a:endParaRPr lang="en-US" sz="1800" dirty="0"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6892" name="Rectangle 1"/>
          <p:cNvSpPr>
            <a:spLocks noChangeArrowheads="1"/>
          </p:cNvSpPr>
          <p:nvPr/>
        </p:nvSpPr>
        <p:spPr bwMode="auto">
          <a:xfrm>
            <a:off x="762000" y="1477963"/>
            <a:ext cx="4953000" cy="549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88872" bIns="88872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tr-TR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Arial" panose="020B0604020202020204" pitchFamily="34" charset="0"/>
              </a:rPr>
              <a:t>All CSS Margin Properties</a:t>
            </a:r>
            <a:endParaRPr kumimoji="0" lang="en-US" altLang="tr-TR" sz="2400" b="1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>
              <a:buNone/>
            </a:pPr>
            <a:r>
              <a:rPr lang="tr-TR" altLang="tr-TR" dirty="0"/>
              <a:t>9.4 CSS Box Model</a:t>
            </a:r>
            <a:endParaRPr lang="en-US" altLang="tr-TR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3429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tr-TR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CSS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Padding</a:t>
            </a:r>
            <a:endParaRPr kumimoji="0" lang="tr-TR" sz="1800" b="1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tr-TR" sz="800" b="1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The CSS padding properties define the space between the element border and the element content.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The padding clears an area around the content (inside the border) of an element. 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The padding is affected by the background color of the element.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The top, right, bottom, and left padding can be changed independently using separate properties. 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A shorthand padding property can also be used, to change all paddings at once.</a:t>
            </a:r>
            <a:endParaRPr kumimoji="0" lang="en-US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/>
              <a:uLnTx/>
              <a:uFillTx/>
              <a:latin typeface="+mn-lt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1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8916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914400" y="4811713"/>
          <a:ext cx="6477000" cy="903288"/>
        </p:xfrm>
        <a:graphic>
          <a:graphicData uri="http://schemas.openxmlformats.org/drawingml/2006/table">
            <a:tbl>
              <a:tblPr/>
              <a:tblGrid>
                <a:gridCol w="914400"/>
                <a:gridCol w="5562600"/>
              </a:tblGrid>
              <a:tr h="301096"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 dirty="0">
                          <a:effectLst/>
                          <a:latin typeface="Verdana" panose="020B0604030504040204"/>
                        </a:rPr>
                        <a:t>Value</a:t>
                      </a:r>
                      <a:endParaRPr lang="en-US" sz="1600" dirty="0"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5" marB="28585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E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600">
                          <a:effectLst/>
                          <a:latin typeface="Verdana" panose="020B0604030504040204"/>
                        </a:rPr>
                        <a:t>Description</a:t>
                      </a:r>
                      <a:endParaRPr lang="en-US" sz="1600"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5" marB="28585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ECC"/>
                    </a:solidFill>
                  </a:tcPr>
                </a:tc>
              </a:tr>
              <a:tr h="301096">
                <a:tc>
                  <a:txBody>
                    <a:bodyPr/>
                    <a:lstStyle/>
                    <a:p>
                      <a:pPr fontAlgn="t"/>
                      <a:r>
                        <a:rPr lang="en-US" sz="1600" i="1">
                          <a:effectLst/>
                          <a:latin typeface="Verdana" panose="020B0604030504040204"/>
                        </a:rPr>
                        <a:t>length</a:t>
                      </a:r>
                      <a:endParaRPr lang="en-US" sz="1600"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5" marB="28585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>
                          <a:effectLst/>
                          <a:latin typeface="Verdana" panose="020B0604030504040204"/>
                        </a:rPr>
                        <a:t>Defines a fixed padding (in pixels, pt, em, etc.)</a:t>
                      </a:r>
                      <a:endParaRPr lang="en-US" sz="1600"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5" marB="28585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096">
                <a:tc>
                  <a:txBody>
                    <a:bodyPr/>
                    <a:lstStyle/>
                    <a:p>
                      <a:pPr fontAlgn="t"/>
                      <a:r>
                        <a:rPr lang="en-US" sz="1600" i="1" dirty="0">
                          <a:effectLst/>
                          <a:latin typeface="Verdana" panose="020B0604030504040204"/>
                        </a:rPr>
                        <a:t>%</a:t>
                      </a:r>
                      <a:endParaRPr lang="en-US" sz="1600" dirty="0"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5" marB="28585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600" dirty="0">
                          <a:effectLst/>
                          <a:latin typeface="Verdana" panose="020B0604030504040204"/>
                        </a:rPr>
                        <a:t>Defines a padding in % of the containing element</a:t>
                      </a:r>
                      <a:endParaRPr lang="en-US" sz="1600" dirty="0"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5" marB="28585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>
              <a:buNone/>
            </a:pPr>
            <a:r>
              <a:rPr lang="tr-TR" altLang="tr-TR" dirty="0"/>
              <a:t>9.4 CSS Box Model</a:t>
            </a:r>
            <a:endParaRPr lang="en-US" altLang="tr-TR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609600" y="1143000"/>
            <a:ext cx="8305800" cy="49530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r>
              <a:rPr kumimoji="0" lang="tr-TR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CSS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Padding</a:t>
            </a:r>
            <a:r>
              <a:rPr kumimoji="0" lang="tr-TR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Arial" panose="020B0604020202020204" pitchFamily="34" charset="0"/>
              </a:rPr>
              <a:t>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Individual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sides</a:t>
            </a:r>
            <a:endParaRPr kumimoji="0" lang="tr-TR" sz="1800" b="1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None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In CSS, it is possible to specify different padding for different sides: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Example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padding-top:25px;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padding-bottom:25px;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padding-right:50px;</a:t>
            </a:r>
            <a:b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</a:b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padding-left:50px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;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tr-TR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CSS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Padding </a:t>
            </a:r>
            <a:r>
              <a:rPr kumimoji="0" lang="en-US" sz="1800" b="1" i="0" u="none" strike="noStrike" kern="0" cap="none" spc="0" normalizeH="0" baseline="0" noProof="0" dirty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- Shorthand </a:t>
            </a:r>
            <a:r>
              <a:rPr kumimoji="0" lang="en-US" sz="1800" b="1" i="0" u="none" strike="noStrike" kern="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property</a:t>
            </a:r>
            <a:endParaRPr kumimoji="0" lang="tr-TR" sz="1800" b="1" i="0" u="none" strike="noStrike" kern="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800" b="1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To shorten the code, it is possible to specify all the padding properties in one property. This is called a shorthand property.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shorthand property for all the padding properties is </a:t>
            </a:r>
            <a:r>
              <a:rPr kumimoji="0" lang="tr-TR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padding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":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Example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800100" marR="0" lvl="2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Tx/>
              <a:buFontTx/>
              <a:buNone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padding:25px 50px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;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+mn-lt"/>
            </a:endParaRPr>
          </a:p>
        </p:txBody>
      </p:sp>
      <p:sp>
        <p:nvSpPr>
          <p:cNvPr id="39940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>
              <a:buNone/>
            </a:pPr>
            <a:r>
              <a:rPr lang="tr-TR" altLang="tr-TR" dirty="0"/>
              <a:t>9.4 CSS Box Model</a:t>
            </a:r>
            <a:endParaRPr lang="en-US" altLang="tr-TR" dirty="0"/>
          </a:p>
        </p:txBody>
      </p:sp>
      <p:sp>
        <p:nvSpPr>
          <p:cNvPr id="12" name="Content Placeholder 11"/>
          <p:cNvSpPr>
            <a:spLocks noGrp="1"/>
          </p:cNvSpPr>
          <p:nvPr>
            <p:ph idx="1"/>
          </p:nvPr>
        </p:nvSpPr>
        <p:spPr>
          <a:xfrm>
            <a:off x="609600" y="1143000"/>
            <a:ext cx="8305800" cy="51816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The padding property can have from one to four values</a:t>
            </a: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.</a:t>
            </a:r>
            <a:endParaRPr kumimoji="0" lang="tr-TR" sz="1800" b="0" i="0" u="none" strike="noStrike" kern="0" cap="none" spc="0" normalizeH="0" baseline="0" noProof="0" dirty="0" smtClean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endParaRPr kumimoji="0" lang="en-US" sz="6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padding:25px 50px 75px 100px;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top padding is 25px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right padding is 50px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bottom padding is 75px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left padding is 100px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padding:25px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50px 75px;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top padding is 25px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right and left paddings are 50px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bottom padding is 75px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padding:25px 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50px;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top and bottom paddings are 25px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right and left paddings are 50px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v"/>
              <a:defRPr/>
            </a:pPr>
            <a: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padding:25px</a:t>
            </a: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;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Char char="§"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</a:rPr>
              <a:t>all four paddings are 25px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br>
              <a:rPr kumimoji="0" lang="en-US" sz="1800" b="0" i="0" u="none" strike="noStrike" kern="0" cap="none" spc="0" normalizeH="0" baseline="0" noProof="0" dirty="0" smtClean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33339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0964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Title 1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 anchorCtr="0"/>
          <a:p>
            <a:pPr>
              <a:buNone/>
            </a:pPr>
            <a:r>
              <a:rPr lang="tr-TR" altLang="tr-TR" dirty="0"/>
              <a:t>9.4 CSS Box Model</a:t>
            </a:r>
            <a:endParaRPr lang="en-US" altLang="tr-TR" dirty="0"/>
          </a:p>
        </p:txBody>
      </p:sp>
      <p:sp>
        <p:nvSpPr>
          <p:cNvPr id="41987" name="Slide Number Placeholder 2"/>
          <p:cNvSpPr txBox="1">
            <a:spLocks noGrp="1"/>
          </p:cNvSpPr>
          <p:nvPr>
            <p:ph type="sldNum" sz="quarter" idx="12"/>
          </p:nvPr>
        </p:nvSpPr>
        <p:spPr/>
        <p:txBody>
          <a:bodyPr/>
          <a:p>
            <a:pPr marL="0" indent="0" eaLnBrk="1" hangingPunct="1">
              <a:spcBef>
                <a:spcPct val="0"/>
              </a:spcBef>
              <a:buClrTx/>
              <a:buFontTx/>
              <a:buNone/>
            </a:pPr>
            <a:fld id="{9A0DB2DC-4C9A-4742-B13C-FB6460FD3503}" type="slidenum">
              <a:rPr lang="en-US" altLang="tr-TR" sz="1000" b="0" dirty="0">
                <a:solidFill>
                  <a:srgbClr val="000000"/>
                </a:solidFill>
                <a:cs typeface="Arial" panose="020B0604020202020204" pitchFamily="34" charset="0"/>
              </a:rPr>
            </a:fld>
            <a:endParaRPr lang="en-US" altLang="tr-TR" sz="1000" b="0" dirty="0">
              <a:solidFill>
                <a:srgbClr val="000000"/>
              </a:solidFill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90600" y="2232025"/>
          <a:ext cx="7391400" cy="2263775"/>
        </p:xfrm>
        <a:graphic>
          <a:graphicData uri="http://schemas.openxmlformats.org/drawingml/2006/table">
            <a:tbl>
              <a:tblPr/>
              <a:tblGrid>
                <a:gridCol w="2224988"/>
                <a:gridCol w="5166412"/>
              </a:tblGrid>
              <a:tr h="331563"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 dirty="0">
                          <a:effectLst/>
                          <a:latin typeface="Verdana" panose="020B0604030504040204"/>
                        </a:rPr>
                        <a:t>Property</a:t>
                      </a:r>
                      <a:endParaRPr lang="en-US" sz="1800" dirty="0"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E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sz="1800">
                          <a:effectLst/>
                          <a:latin typeface="Verdana" panose="020B0604030504040204"/>
                        </a:rPr>
                        <a:t>Description</a:t>
                      </a:r>
                      <a:endParaRPr lang="en-US" sz="1800"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EECC"/>
                    </a:solidFill>
                  </a:tcPr>
                </a:tc>
              </a:tr>
              <a:tr h="605960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>
                          <a:solidFill>
                            <a:schemeClr val="accent4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Verdana" panose="020B0604030504040204"/>
                        </a:rPr>
                        <a:t>padding</a:t>
                      </a:r>
                      <a:endParaRPr lang="en-US" sz="1800" b="1" dirty="0">
                        <a:solidFill>
                          <a:schemeClr val="accent4">
                            <a:lumMod val="90000"/>
                            <a:lumOff val="10000"/>
                          </a:schemeClr>
                        </a:solidFill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  <a:latin typeface="Verdana" panose="020B0604030504040204"/>
                        </a:rPr>
                        <a:t>A shorthand property for setting all the padding properties in one declaration</a:t>
                      </a:r>
                      <a:endParaRPr lang="en-US" sz="1800" dirty="0"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563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>
                          <a:solidFill>
                            <a:schemeClr val="accent4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Verdana" panose="020B0604030504040204"/>
                        </a:rPr>
                        <a:t>padding-bottom</a:t>
                      </a:r>
                      <a:endParaRPr lang="en-US" sz="1800" b="1" dirty="0">
                        <a:solidFill>
                          <a:schemeClr val="accent4">
                            <a:lumMod val="90000"/>
                            <a:lumOff val="10000"/>
                          </a:schemeClr>
                        </a:solidFill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  <a:latin typeface="Verdana" panose="020B0604030504040204"/>
                        </a:rPr>
                        <a:t>Sets the bottom padding of an element</a:t>
                      </a:r>
                      <a:endParaRPr lang="en-US" sz="1800"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563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>
                          <a:solidFill>
                            <a:schemeClr val="accent4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Verdana" panose="020B0604030504040204"/>
                        </a:rPr>
                        <a:t>padding-left</a:t>
                      </a:r>
                      <a:endParaRPr lang="en-US" sz="1800" b="1" dirty="0">
                        <a:solidFill>
                          <a:schemeClr val="accent4">
                            <a:lumMod val="90000"/>
                            <a:lumOff val="10000"/>
                          </a:schemeClr>
                        </a:solidFill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  <a:latin typeface="Verdana" panose="020B0604030504040204"/>
                        </a:rPr>
                        <a:t>Sets the left padding of an element</a:t>
                      </a:r>
                      <a:endParaRPr lang="en-US" sz="1800"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563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>
                          <a:solidFill>
                            <a:schemeClr val="accent4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Verdana" panose="020B0604030504040204"/>
                        </a:rPr>
                        <a:t>padding-right</a:t>
                      </a:r>
                      <a:endParaRPr lang="en-US" sz="1800" b="1" dirty="0">
                        <a:solidFill>
                          <a:schemeClr val="accent4">
                            <a:lumMod val="90000"/>
                            <a:lumOff val="10000"/>
                          </a:schemeClr>
                        </a:solidFill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>
                          <a:effectLst/>
                          <a:latin typeface="Verdana" panose="020B0604030504040204"/>
                        </a:rPr>
                        <a:t>Sets the right padding of an element</a:t>
                      </a:r>
                      <a:endParaRPr lang="en-US" sz="1800"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31563">
                <a:tc>
                  <a:txBody>
                    <a:bodyPr/>
                    <a:lstStyle/>
                    <a:p>
                      <a:pPr fontAlgn="t"/>
                      <a:r>
                        <a:rPr lang="en-US" sz="1800" b="1" dirty="0">
                          <a:solidFill>
                            <a:schemeClr val="accent4">
                              <a:lumMod val="90000"/>
                              <a:lumOff val="10000"/>
                            </a:schemeClr>
                          </a:solidFill>
                          <a:effectLst/>
                          <a:latin typeface="Verdana" panose="020B0604030504040204"/>
                        </a:rPr>
                        <a:t>padding-top</a:t>
                      </a:r>
                      <a:endParaRPr lang="en-US" sz="1800" b="1" dirty="0">
                        <a:solidFill>
                          <a:schemeClr val="accent4">
                            <a:lumMod val="90000"/>
                            <a:lumOff val="10000"/>
                          </a:schemeClr>
                        </a:solidFill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fontAlgn="t"/>
                      <a:r>
                        <a:rPr lang="en-US" sz="1800" dirty="0">
                          <a:effectLst/>
                          <a:latin typeface="Verdana" panose="020B0604030504040204"/>
                        </a:rPr>
                        <a:t>Sets the top padding of an element</a:t>
                      </a:r>
                      <a:endParaRPr lang="en-US" sz="1800" dirty="0">
                        <a:effectLst/>
                        <a:latin typeface="Verdana" panose="020B0604030504040204"/>
                      </a:endParaRPr>
                    </a:p>
                  </a:txBody>
                  <a:tcPr marL="28575" marR="28575" marT="28583" marB="28583">
                    <a:lnL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3C3C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0988" name="Rectangle 1"/>
          <p:cNvSpPr>
            <a:spLocks noChangeArrowheads="1"/>
          </p:cNvSpPr>
          <p:nvPr/>
        </p:nvSpPr>
        <p:spPr bwMode="auto">
          <a:xfrm>
            <a:off x="838200" y="1355725"/>
            <a:ext cx="4343400" cy="5492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88872" bIns="88872" anchor="ctr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tr-TR" sz="18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4">
                    <a:lumMod val="90000"/>
                    <a:lumOff val="10000"/>
                  </a:schemeClr>
                </a:solidFill>
                <a:effectLst/>
                <a:uLnTx/>
                <a:uFillTx/>
                <a:latin typeface="Verdana" panose="020B0604030504040204" pitchFamily="34" charset="0"/>
                <a:ea typeface="+mn-ea"/>
                <a:cs typeface="Arial" panose="020B0604020202020204" pitchFamily="34" charset="0"/>
              </a:rPr>
              <a:t>All CSS Padding Properties</a:t>
            </a:r>
            <a:endParaRPr kumimoji="0" lang="en-US" altLang="tr-TR" sz="2400" b="1" i="0" u="none" strike="noStrike" kern="1200" cap="none" spc="0" normalizeH="0" baseline="0" noProof="0" dirty="0" smtClean="0">
              <a:ln>
                <a:noFill/>
              </a:ln>
              <a:solidFill>
                <a:schemeClr val="accent4">
                  <a:lumMod val="90000"/>
                  <a:lumOff val="10000"/>
                </a:schemeClr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ctangle 7"/>
          <p:cNvSpPr txBox="1">
            <a:spLocks noChangeArrowheads="1"/>
          </p:cNvSpPr>
          <p:nvPr/>
        </p:nvSpPr>
        <p:spPr bwMode="gray">
          <a:xfrm>
            <a:off x="3276600" y="6477000"/>
            <a:ext cx="5410200" cy="3810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342900" indent="-3429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v"/>
              <a:defRPr sz="2800" b="1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</a:rPr>
              <a:t>   </a:t>
            </a:r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WordArt 5"/>
          <p:cNvSpPr>
            <a:spLocks noTextEdit="1"/>
          </p:cNvSpPr>
          <p:nvPr/>
        </p:nvSpPr>
        <p:spPr>
          <a:xfrm>
            <a:off x="533400" y="2057400"/>
            <a:ext cx="4038600" cy="457200"/>
          </a:xfrm>
          <a:prstGeom prst="rect">
            <a:avLst/>
          </a:prstGeom>
        </p:spPr>
        <p:txBody>
          <a:bodyPr wrap="none" fromWordArt="1">
            <a:prstTxWarp prst="textDeflate">
              <a:avLst>
                <a:gd name="adj" fmla="val 0"/>
              </a:avLst>
            </a:prstTxWarp>
            <a:normAutofit/>
          </a:bodyPr>
          <a:p>
            <a:pPr algn="ctr"/>
            <a:r>
              <a:rPr lang="en-US" sz="3600" b="1">
                <a:ln w="19050" cap="flat" cmpd="sng">
                  <a:solidFill>
                    <a:srgbClr val="FFFFFF"/>
                  </a:solidFill>
                  <a:prstDash val="solid"/>
                  <a:headEnd type="none" w="med" len="med"/>
                  <a:tailEnd type="none" w="med" len="med"/>
                </a:ln>
                <a:gradFill rotWithShape="1">
                  <a:gsLst>
                    <a:gs pos="0">
                      <a:schemeClr val="tx2"/>
                    </a:gs>
                    <a:gs pos="100000">
                      <a:schemeClr val="accent1"/>
                    </a:gs>
                  </a:gsLst>
                  <a:lin ang="0" scaled="1"/>
                  <a:tileRect/>
                </a:gradFill>
                <a:effectLst>
                  <a:outerShdw dist="53882" dir="2699999" algn="ctr" rotWithShape="0">
                    <a:schemeClr val="tx1">
                      <a:alpha val="50000"/>
                    </a:schemeClr>
                  </a:outerShdw>
                </a:effectLst>
                <a:latin typeface="Arial" panose="020B0604020202020204" pitchFamily="34" charset="0"/>
                <a:ea typeface="Arial" panose="020B0604020202020204" pitchFamily="34" charset="0"/>
              </a:rPr>
              <a:t>Thank You !</a:t>
            </a:r>
            <a:endParaRPr lang="en-US" sz="3600" b="1">
              <a:ln w="19050" cap="flat" cmpd="sng">
                <a:solidFill>
                  <a:srgbClr val="FFFFFF"/>
                </a:solidFill>
                <a:prstDash val="solid"/>
                <a:headEnd type="none" w="med" len="med"/>
                <a:tailEnd type="none" w="med" len="med"/>
              </a:ln>
              <a:gradFill rotWithShape="1">
                <a:gsLst>
                  <a:gs pos="0">
                    <a:schemeClr val="tx2"/>
                  </a:gs>
                  <a:gs pos="100000">
                    <a:schemeClr val="accent1"/>
                  </a:gs>
                </a:gsLst>
                <a:lin ang="0" scaled="1"/>
                <a:tileRect/>
              </a:gradFill>
              <a:effectLst>
                <a:outerShdw dist="53882" dir="2699999" algn="ctr" rotWithShape="0">
                  <a:schemeClr val="tx1">
                    <a:alpha val="50000"/>
                  </a:schemeClr>
                </a:outerShdw>
              </a:effectLst>
              <a:latin typeface="Arial" panose="020B0604020202020204" pitchFamily="34" charset="0"/>
              <a:ea typeface="Arial" panose="020B0604020202020204" pitchFamily="34" charset="0"/>
            </a:endParaRPr>
          </a:p>
        </p:txBody>
      </p:sp>
      <p:sp>
        <p:nvSpPr>
          <p:cNvPr id="4" name="Rectangle 4"/>
          <p:cNvSpPr>
            <a:spLocks noGrp="1" noChangeArrowheads="1"/>
          </p:cNvSpPr>
          <p:nvPr>
            <p:ph type="ctrTitle"/>
          </p:nvPr>
        </p:nvSpPr>
        <p:spPr bwMode="gray">
          <a:xfrm>
            <a:off x="322263" y="3025775"/>
            <a:ext cx="4267200" cy="533400"/>
          </a:xfrm>
        </p:spPr>
        <p:txBody>
          <a:bodyPr vert="horz" wrap="square" lIns="91440" tIns="45720" rIns="91440" bIns="45720" numCol="1" anchor="ctr" anchorCtr="0" compatLnSpc="1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tr-TR" sz="20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j-lt"/>
                <a:ea typeface="+mj-ea"/>
                <a:cs typeface="+mj-cs"/>
              </a:rPr>
              <a:t>CSS - Intermediate</a:t>
            </a:r>
            <a:endParaRPr kumimoji="0" lang="en-US" sz="2000" b="1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Rectangle 5"/>
          <p:cNvSpPr txBox="1">
            <a:spLocks noChangeArrowheads="1"/>
          </p:cNvSpPr>
          <p:nvPr/>
        </p:nvSpPr>
        <p:spPr bwMode="gray">
          <a:xfrm>
            <a:off x="609600" y="3962400"/>
            <a:ext cx="4038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0" indent="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6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2200" b="1" i="0" u="none" strike="noStrike" kern="1200" cap="none" spc="0" normalizeH="0" baseline="0" noProof="0" dirty="0" smtClean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END of CHAPTER </a:t>
            </a:r>
            <a:r>
              <a:rPr kumimoji="0" lang="tr-TR" sz="2200" b="1" i="0" u="none" strike="noStrike" kern="1200" cap="none" spc="0" normalizeH="0" baseline="0" noProof="0" dirty="0">
                <a:ln>
                  <a:noFill/>
                </a:ln>
                <a:solidFill>
                  <a:schemeClr val="accent1">
                    <a:lumMod val="75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9</a:t>
            </a:r>
            <a:endParaRPr kumimoji="0" lang="en-US" sz="2200" b="1" i="0" u="none" strike="noStrike" kern="1200" cap="none" spc="0" normalizeH="0" baseline="0" noProof="0" dirty="0">
              <a:ln>
                <a:noFill/>
              </a:ln>
              <a:solidFill>
                <a:schemeClr val="accent1">
                  <a:lumMod val="75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43013" name="Picture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0" y="2362200"/>
            <a:ext cx="1152525" cy="1120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9" name="Rectangle 7"/>
          <p:cNvSpPr txBox="1">
            <a:spLocks noChangeArrowheads="1"/>
          </p:cNvSpPr>
          <p:nvPr/>
        </p:nvSpPr>
        <p:spPr bwMode="gray">
          <a:xfrm>
            <a:off x="914400" y="6248400"/>
            <a:ext cx="73152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0" indent="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None/>
              <a:defRPr sz="1600" b="1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r>
              <a:rPr kumimoji="0" lang="tr-TR" sz="1400" b="1" i="0" u="none" strike="noStrike" kern="0" cap="none" spc="0" normalizeH="0" baseline="0" noProof="0" dirty="0" smtClean="0">
                <a:ln>
                  <a:noFill/>
                </a:ln>
                <a:solidFill>
                  <a:schemeClr val="tx1">
                    <a:lumMod val="60000"/>
                    <a:lumOff val="4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+mn-lt"/>
                <a:ea typeface="+mn-ea"/>
                <a:cs typeface="+mn-cs"/>
                <a:hlinkClick r:id="rId2"/>
              </a:rPr>
              <a:t>   </a:t>
            </a:r>
            <a:endParaRPr kumimoji="0" lang="tr-TR" sz="1400" b="1" i="0" u="none" strike="noStrike" kern="0" cap="none" spc="0" normalizeH="0" baseline="0" noProof="0" dirty="0" smtClean="0">
              <a:ln>
                <a:noFill/>
              </a:ln>
              <a:solidFill>
                <a:schemeClr val="tx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1"/>
              </a:buClr>
              <a:buSzTx/>
              <a:buFont typeface="Wingdings" panose="05000000000000000000" pitchFamily="2" charset="2"/>
              <a:buNone/>
              <a:defRPr/>
            </a:pPr>
            <a:endParaRPr kumimoji="0" lang="en-US" sz="14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60000"/>
                  <a:lumOff val="4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30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000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30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230TGp_report_light">
  <a:themeElements>
    <a:clrScheme name="04 1">
      <a:dk1>
        <a:srgbClr val="003366"/>
      </a:dk1>
      <a:lt1>
        <a:srgbClr val="FFFFFF"/>
      </a:lt1>
      <a:dk2>
        <a:srgbClr val="3EB1CC"/>
      </a:dk2>
      <a:lt2>
        <a:srgbClr val="DDDDDD"/>
      </a:lt2>
      <a:accent1>
        <a:srgbClr val="438ACB"/>
      </a:accent1>
      <a:accent2>
        <a:srgbClr val="77AE26"/>
      </a:accent2>
      <a:accent3>
        <a:srgbClr val="FFFFFF"/>
      </a:accent3>
      <a:accent4>
        <a:srgbClr val="002A56"/>
      </a:accent4>
      <a:accent5>
        <a:srgbClr val="B0C4E2"/>
      </a:accent5>
      <a:accent6>
        <a:srgbClr val="6B9D21"/>
      </a:accent6>
      <a:hlink>
        <a:srgbClr val="6E815B"/>
      </a:hlink>
      <a:folHlink>
        <a:srgbClr val="76A0CA"/>
      </a:folHlink>
    </a:clrScheme>
    <a:fontScheme name="04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04 1">
        <a:dk1>
          <a:srgbClr val="003366"/>
        </a:dk1>
        <a:lt1>
          <a:srgbClr val="FFFFFF"/>
        </a:lt1>
        <a:dk2>
          <a:srgbClr val="3EB1CC"/>
        </a:dk2>
        <a:lt2>
          <a:srgbClr val="DDDDDD"/>
        </a:lt2>
        <a:accent1>
          <a:srgbClr val="438ACB"/>
        </a:accent1>
        <a:accent2>
          <a:srgbClr val="77AE26"/>
        </a:accent2>
        <a:accent3>
          <a:srgbClr val="FFFFFF"/>
        </a:accent3>
        <a:accent4>
          <a:srgbClr val="002A56"/>
        </a:accent4>
        <a:accent5>
          <a:srgbClr val="B0C4E2"/>
        </a:accent5>
        <a:accent6>
          <a:srgbClr val="6B9D21"/>
        </a:accent6>
        <a:hlink>
          <a:srgbClr val="6E815B"/>
        </a:hlink>
        <a:folHlink>
          <a:srgbClr val="76A0C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2">
        <a:dk1>
          <a:srgbClr val="30311D"/>
        </a:dk1>
        <a:lt1>
          <a:srgbClr val="FFFFFF"/>
        </a:lt1>
        <a:dk2>
          <a:srgbClr val="D59D81"/>
        </a:dk2>
        <a:lt2>
          <a:srgbClr val="DDDDDD"/>
        </a:lt2>
        <a:accent1>
          <a:srgbClr val="617CD3"/>
        </a:accent1>
        <a:accent2>
          <a:srgbClr val="93B75F"/>
        </a:accent2>
        <a:accent3>
          <a:srgbClr val="FFFFFF"/>
        </a:accent3>
        <a:accent4>
          <a:srgbClr val="272817"/>
        </a:accent4>
        <a:accent5>
          <a:srgbClr val="B7BFE6"/>
        </a:accent5>
        <a:accent6>
          <a:srgbClr val="85A655"/>
        </a:accent6>
        <a:hlink>
          <a:srgbClr val="557B97"/>
        </a:hlink>
        <a:folHlink>
          <a:srgbClr val="9778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3">
        <a:dk1>
          <a:srgbClr val="000066"/>
        </a:dk1>
        <a:lt1>
          <a:srgbClr val="FFFFFF"/>
        </a:lt1>
        <a:dk2>
          <a:srgbClr val="0D5597"/>
        </a:dk2>
        <a:lt2>
          <a:srgbClr val="DDDDDD"/>
        </a:lt2>
        <a:accent1>
          <a:srgbClr val="428E71"/>
        </a:accent1>
        <a:accent2>
          <a:srgbClr val="3F90BD"/>
        </a:accent2>
        <a:accent3>
          <a:srgbClr val="FFFFFF"/>
        </a:accent3>
        <a:accent4>
          <a:srgbClr val="000056"/>
        </a:accent4>
        <a:accent5>
          <a:srgbClr val="B0C6BB"/>
        </a:accent5>
        <a:accent6>
          <a:srgbClr val="3882AB"/>
        </a:accent6>
        <a:hlink>
          <a:srgbClr val="7D7E89"/>
        </a:hlink>
        <a:folHlink>
          <a:srgbClr val="8AC4C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230TGp_report_light</Template>
  <TotalTime>0</TotalTime>
  <Words>16296</Words>
  <Application>WPS Presentation</Application>
  <PresentationFormat>On-screen Show (4:3)</PresentationFormat>
  <Paragraphs>780</Paragraphs>
  <Slides>38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7" baseType="lpstr">
      <vt:lpstr>Arial</vt:lpstr>
      <vt:lpstr>SimSun</vt:lpstr>
      <vt:lpstr>Wingdings</vt:lpstr>
      <vt:lpstr>Verdana</vt:lpstr>
      <vt:lpstr>Microsoft YaHei</vt:lpstr>
      <vt:lpstr>Arial Unicode MS</vt:lpstr>
      <vt:lpstr>Calibri</vt:lpstr>
      <vt:lpstr>Verdana</vt:lpstr>
      <vt:lpstr>230TGp_report_light</vt:lpstr>
      <vt:lpstr>CONTENT</vt:lpstr>
      <vt:lpstr>9.1 Styling Links</vt:lpstr>
      <vt:lpstr>9.1 Styling Links</vt:lpstr>
      <vt:lpstr>9.1 Styling Links</vt:lpstr>
      <vt:lpstr>9.1 Styling Links</vt:lpstr>
      <vt:lpstr>9.1 Styling Links</vt:lpstr>
      <vt:lpstr>9.2 Styling Lists</vt:lpstr>
      <vt:lpstr>9.2 Styling Lists</vt:lpstr>
      <vt:lpstr>9.2 Styling Lists</vt:lpstr>
      <vt:lpstr>9.2 Styling Lists</vt:lpstr>
      <vt:lpstr>9.2 Styling Lists</vt:lpstr>
      <vt:lpstr>9.3 Styling Tables</vt:lpstr>
      <vt:lpstr>9.3 Styling Tables</vt:lpstr>
      <vt:lpstr>9.3 Styling Tables</vt:lpstr>
      <vt:lpstr>9.3 Styling Tables</vt:lpstr>
      <vt:lpstr>9.3 Styling Tables</vt:lpstr>
      <vt:lpstr>9.4 CSS Box Model</vt:lpstr>
      <vt:lpstr>9.4 CSS Box Model</vt:lpstr>
      <vt:lpstr>9.4 CSS Box Model</vt:lpstr>
      <vt:lpstr>9.4 CSS Box Model</vt:lpstr>
      <vt:lpstr>9.4 CSS Box Model</vt:lpstr>
      <vt:lpstr>9.4 CSS Box Model</vt:lpstr>
      <vt:lpstr>9.4 CSS Box Model</vt:lpstr>
      <vt:lpstr>9.4 CSS Box Model</vt:lpstr>
      <vt:lpstr>9.4 CSS Box Model</vt:lpstr>
      <vt:lpstr>9.4 CSS Box Model</vt:lpstr>
      <vt:lpstr>9.4 CSS Box Model</vt:lpstr>
      <vt:lpstr>9.4 CSS Box Model</vt:lpstr>
      <vt:lpstr>9.4 CSS Box Model</vt:lpstr>
      <vt:lpstr>9.4 CSS Box Model</vt:lpstr>
      <vt:lpstr>9.4 CSS Box Model</vt:lpstr>
      <vt:lpstr>9.4 CSS Box Model</vt:lpstr>
      <vt:lpstr>9.4 CSS Box Model</vt:lpstr>
      <vt:lpstr>9.4 CSS Box Model</vt:lpstr>
      <vt:lpstr>9.4 CSS Box Model</vt:lpstr>
      <vt:lpstr>9.4 CSS Box Model</vt:lpstr>
      <vt:lpstr>9.4 CSS Box Model</vt:lpstr>
      <vt:lpstr>CSS - Intermediate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raygan nira</dc:creator>
  <cp:lastModifiedBy>Saratha Poovalingam</cp:lastModifiedBy>
  <cp:revision>409</cp:revision>
  <dcterms:created xsi:type="dcterms:W3CDTF">2011-09-08T12:57:00Z</dcterms:created>
  <dcterms:modified xsi:type="dcterms:W3CDTF">2025-08-16T06:44:22Z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E1FDEA54D2A04019BE2CDBDE5373D82C_13</vt:lpwstr>
  </property>
  <property fmtid="{D5CDD505-2E9C-101B-9397-08002B2CF9AE}" pid="3" name="KSOProductBuildVer">
    <vt:lpwstr>1033-12.2.0.21931</vt:lpwstr>
  </property>
</Properties>
</file>